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4" r:id="rId10"/>
    <p:sldId id="263" r:id="rId11"/>
  </p:sldIdLst>
  <p:sldSz cx="18288000" cy="10287000"/>
  <p:notesSz cx="6858000" cy="9144000"/>
  <p:embeddedFontLs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Poppins Black" panose="00000A00000000000000" pitchFamily="2" charset="0"/>
      <p:bold r:id="rId17"/>
      <p:boldItalic r:id="rId18"/>
    </p:embeddedFont>
    <p:embeddedFont>
      <p:font typeface="Poppins Medium" panose="000006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E0A5CF44-3230-A7C2-3D14-D5FFD39A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>
            <a:extLst>
              <a:ext uri="{FF2B5EF4-FFF2-40B4-BE49-F238E27FC236}">
                <a16:creationId xmlns:a16="http://schemas.microsoft.com/office/drawing/2014/main" id="{8A707823-1377-1DBC-A9C0-55ED63FFB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6:notes">
            <a:extLst>
              <a:ext uri="{FF2B5EF4-FFF2-40B4-BE49-F238E27FC236}">
                <a16:creationId xmlns:a16="http://schemas.microsoft.com/office/drawing/2014/main" id="{AD2621B9-0050-EE7E-C060-74CE4D3C2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5449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C868944B-70EE-0F72-5368-A6ADE5A4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>
            <a:extLst>
              <a:ext uri="{FF2B5EF4-FFF2-40B4-BE49-F238E27FC236}">
                <a16:creationId xmlns:a16="http://schemas.microsoft.com/office/drawing/2014/main" id="{4F0FF75B-206C-C4A8-6A9D-6D480BAC9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7:notes">
            <a:extLst>
              <a:ext uri="{FF2B5EF4-FFF2-40B4-BE49-F238E27FC236}">
                <a16:creationId xmlns:a16="http://schemas.microsoft.com/office/drawing/2014/main" id="{801E0874-2ED5-C6AE-6CEA-082B88852C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8314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7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11" b="-15111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85" name="Google Shape;85;p13"/>
          <p:cNvGrpSpPr/>
          <p:nvPr/>
        </p:nvGrpSpPr>
        <p:grpSpPr>
          <a:xfrm>
            <a:off x="3255790" y="1204774"/>
            <a:ext cx="11919422" cy="3086100"/>
            <a:chOff x="0" y="0"/>
            <a:chExt cx="3139272" cy="812800"/>
          </a:xfrm>
        </p:grpSpPr>
        <p:sp>
          <p:nvSpPr>
            <p:cNvPr id="86" name="Google Shape;86;p13"/>
            <p:cNvSpPr/>
            <p:nvPr/>
          </p:nvSpPr>
          <p:spPr>
            <a:xfrm>
              <a:off x="0" y="0"/>
              <a:ext cx="3139272" cy="812800"/>
            </a:xfrm>
            <a:custGeom>
              <a:avLst/>
              <a:gdLst/>
              <a:ahLst/>
              <a:cxnLst/>
              <a:rect l="l" t="t" r="r" b="b"/>
              <a:pathLst>
                <a:path w="3139272" h="812800" extrusionOk="0">
                  <a:moveTo>
                    <a:pt x="1569636" y="0"/>
                  </a:moveTo>
                  <a:cubicBezTo>
                    <a:pt x="702750" y="0"/>
                    <a:pt x="0" y="181951"/>
                    <a:pt x="0" y="406400"/>
                  </a:cubicBezTo>
                  <a:cubicBezTo>
                    <a:pt x="0" y="630849"/>
                    <a:pt x="702750" y="812800"/>
                    <a:pt x="1569636" y="812800"/>
                  </a:cubicBezTo>
                  <a:cubicBezTo>
                    <a:pt x="2436522" y="812800"/>
                    <a:pt x="3139272" y="630849"/>
                    <a:pt x="3139272" y="406400"/>
                  </a:cubicBezTo>
                  <a:cubicBezTo>
                    <a:pt x="3139272" y="181951"/>
                    <a:pt x="2436522" y="0"/>
                    <a:pt x="1569636" y="0"/>
                  </a:cubicBezTo>
                  <a:close/>
                </a:path>
              </a:pathLst>
            </a:custGeom>
            <a:solidFill>
              <a:srgbClr val="D543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294307" y="38100"/>
              <a:ext cx="2550658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 rot="-454637">
            <a:off x="3255789" y="-186670"/>
            <a:ext cx="11919422" cy="4395559"/>
            <a:chOff x="0" y="-344878"/>
            <a:chExt cx="3139272" cy="1157678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3139272" cy="812800"/>
            </a:xfrm>
            <a:custGeom>
              <a:avLst/>
              <a:gdLst/>
              <a:ahLst/>
              <a:cxnLst/>
              <a:rect l="l" t="t" r="r" b="b"/>
              <a:pathLst>
                <a:path w="3139272" h="812800" extrusionOk="0">
                  <a:moveTo>
                    <a:pt x="1569636" y="0"/>
                  </a:moveTo>
                  <a:cubicBezTo>
                    <a:pt x="702750" y="0"/>
                    <a:pt x="0" y="181951"/>
                    <a:pt x="0" y="406400"/>
                  </a:cubicBezTo>
                  <a:cubicBezTo>
                    <a:pt x="0" y="630849"/>
                    <a:pt x="702750" y="812800"/>
                    <a:pt x="1569636" y="812800"/>
                  </a:cubicBezTo>
                  <a:cubicBezTo>
                    <a:pt x="2436522" y="812800"/>
                    <a:pt x="3139272" y="630849"/>
                    <a:pt x="3139272" y="406400"/>
                  </a:cubicBezTo>
                  <a:cubicBezTo>
                    <a:pt x="3139272" y="181951"/>
                    <a:pt x="2436522" y="0"/>
                    <a:pt x="1569636" y="0"/>
                  </a:cubicBezTo>
                  <a:close/>
                </a:path>
              </a:pathLst>
            </a:custGeom>
            <a:noFill/>
            <a:ln w="952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338919" y="-344878"/>
              <a:ext cx="2550658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3"/>
          <p:cNvSpPr txBox="1"/>
          <p:nvPr/>
        </p:nvSpPr>
        <p:spPr>
          <a:xfrm>
            <a:off x="2775047" y="1299047"/>
            <a:ext cx="125955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dirty="0">
                <a:solidFill>
                  <a:srgbClr val="071828"/>
                </a:solidFill>
                <a:latin typeface="Poppins Black"/>
                <a:ea typeface="Poppins Black"/>
                <a:cs typeface="Poppins Black"/>
                <a:sym typeface="Poppins Black"/>
              </a:rPr>
              <a:t>HASTKALA</a:t>
            </a:r>
            <a:endParaRPr lang="en-US" sz="12000" dirty="0"/>
          </a:p>
        </p:txBody>
      </p:sp>
      <p:sp>
        <p:nvSpPr>
          <p:cNvPr id="92" name="Google Shape;92;p13"/>
          <p:cNvSpPr txBox="1"/>
          <p:nvPr/>
        </p:nvSpPr>
        <p:spPr>
          <a:xfrm rot="-5400000">
            <a:off x="-3105000" y="5172900"/>
            <a:ext cx="7190400" cy="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0" b="1" i="0" u="none" strike="noStrike" cap="none">
                <a:solidFill>
                  <a:srgbClr val="071828"/>
                </a:solidFill>
                <a:latin typeface="Poppins Black"/>
                <a:ea typeface="Poppins Black"/>
                <a:cs typeface="Poppins Black"/>
                <a:sym typeface="Poppins Black"/>
              </a:rPr>
              <a:t>IDEA-BUILDUP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13922880" y="2068032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4" name="Google Shape;94;p13"/>
          <p:cNvSpPr/>
          <p:nvPr/>
        </p:nvSpPr>
        <p:spPr>
          <a:xfrm>
            <a:off x="1347577" y="9559168"/>
            <a:ext cx="3863286" cy="258353"/>
          </a:xfrm>
          <a:custGeom>
            <a:avLst/>
            <a:gdLst/>
            <a:ahLst/>
            <a:cxnLst/>
            <a:rect l="l" t="t" r="r" b="b"/>
            <a:pathLst>
              <a:path w="3863286" h="258353" extrusionOk="0">
                <a:moveTo>
                  <a:pt x="0" y="0"/>
                </a:moveTo>
                <a:lnTo>
                  <a:pt x="3863286" y="0"/>
                </a:lnTo>
                <a:lnTo>
                  <a:pt x="3863286" y="258354"/>
                </a:lnTo>
                <a:lnTo>
                  <a:pt x="0" y="258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5" name="Google Shape;95;p13"/>
          <p:cNvSpPr/>
          <p:nvPr/>
        </p:nvSpPr>
        <p:spPr>
          <a:xfrm>
            <a:off x="2993386" y="5143500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13"/>
          <p:cNvSpPr/>
          <p:nvPr/>
        </p:nvSpPr>
        <p:spPr>
          <a:xfrm>
            <a:off x="3279220" y="2341320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7" name="Google Shape;97;p13"/>
          <p:cNvGrpSpPr/>
          <p:nvPr/>
        </p:nvGrpSpPr>
        <p:grpSpPr>
          <a:xfrm>
            <a:off x="14208714" y="9245854"/>
            <a:ext cx="3174300" cy="571668"/>
            <a:chOff x="14208714" y="9245854"/>
            <a:chExt cx="3174300" cy="571668"/>
          </a:xfrm>
        </p:grpSpPr>
        <p:sp>
          <p:nvSpPr>
            <p:cNvPr id="98" name="Google Shape;98;p13"/>
            <p:cNvSpPr/>
            <p:nvPr/>
          </p:nvSpPr>
          <p:spPr>
            <a:xfrm>
              <a:off x="16687632" y="9245854"/>
              <a:ext cx="571668" cy="571668"/>
            </a:xfrm>
            <a:custGeom>
              <a:avLst/>
              <a:gdLst/>
              <a:ahLst/>
              <a:cxnLst/>
              <a:rect l="l" t="t" r="r" b="b"/>
              <a:pathLst>
                <a:path w="571668" h="571668" extrusionOk="0">
                  <a:moveTo>
                    <a:pt x="0" y="0"/>
                  </a:moveTo>
                  <a:lnTo>
                    <a:pt x="571668" y="0"/>
                  </a:lnTo>
                  <a:lnTo>
                    <a:pt x="571668" y="571668"/>
                  </a:lnTo>
                  <a:lnTo>
                    <a:pt x="0" y="5716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9" name="Google Shape;99;p13"/>
            <p:cNvSpPr txBox="1"/>
            <p:nvPr/>
          </p:nvSpPr>
          <p:spPr>
            <a:xfrm>
              <a:off x="14208714" y="9437785"/>
              <a:ext cx="31743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0" b="1" i="0" u="none" strike="noStrike" cap="none">
                  <a:solidFill>
                    <a:srgbClr val="D5434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SparkUp Summit 2026</a:t>
              </a:r>
              <a:endParaRPr/>
            </a:p>
          </p:txBody>
        </p:sp>
      </p:grpSp>
      <p:sp>
        <p:nvSpPr>
          <p:cNvPr id="100" name="Google Shape;100;p13"/>
          <p:cNvSpPr/>
          <p:nvPr/>
        </p:nvSpPr>
        <p:spPr>
          <a:xfrm>
            <a:off x="304364" y="271321"/>
            <a:ext cx="1514758" cy="1514758"/>
          </a:xfrm>
          <a:custGeom>
            <a:avLst/>
            <a:gdLst/>
            <a:ahLst/>
            <a:cxnLst/>
            <a:rect l="l" t="t" r="r" b="b"/>
            <a:pathLst>
              <a:path w="1514758" h="1514758" extrusionOk="0">
                <a:moveTo>
                  <a:pt x="0" y="0"/>
                </a:moveTo>
                <a:lnTo>
                  <a:pt x="1514758" y="0"/>
                </a:lnTo>
                <a:lnTo>
                  <a:pt x="1514758" y="1514758"/>
                </a:lnTo>
                <a:lnTo>
                  <a:pt x="0" y="1514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6351177" y="4618241"/>
            <a:ext cx="5585645" cy="79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998"/>
              </a:lnSpc>
            </a:pPr>
            <a:r>
              <a:rPr lang="en-US" sz="4800" b="1" dirty="0">
                <a:solidFill>
                  <a:srgbClr val="D54344"/>
                </a:solidFill>
              </a:rPr>
              <a:t>TEAM ALCHEMIST</a:t>
            </a:r>
            <a:endParaRPr lang="en-US" sz="48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1347577" y="6724051"/>
            <a:ext cx="5194800" cy="15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D54344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 sz="4800" dirty="0"/>
          </a:p>
          <a:p>
            <a:pPr marL="0" marR="0" lvl="0" indent="0" algn="l" rtl="0">
              <a:lnSpc>
                <a:spcPct val="10799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 i="0" u="none" strike="noStrike" cap="none" dirty="0">
              <a:solidFill>
                <a:srgbClr val="D543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11601026" y="6744543"/>
            <a:ext cx="5194747" cy="139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51" b="1" i="0" u="none" strike="noStrike" cap="none" dirty="0">
                <a:solidFill>
                  <a:srgbClr val="D54344"/>
                </a:solidFill>
                <a:latin typeface="Arial"/>
                <a:ea typeface="Arial"/>
                <a:cs typeface="Arial"/>
                <a:sym typeface="Arial"/>
              </a:rPr>
              <a:t>INSTITUTE</a:t>
            </a:r>
            <a:endParaRPr dirty="0"/>
          </a:p>
          <a:p>
            <a:pPr marL="0" marR="0" lvl="0" indent="0" algn="l" rtl="0">
              <a:lnSpc>
                <a:spcPct val="10799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51" b="1" i="0" u="none" strike="noStrike" cap="none" dirty="0">
              <a:solidFill>
                <a:srgbClr val="D543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11618114" y="7639670"/>
            <a:ext cx="6359400" cy="46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 dirty="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NIST UNIVERSITY</a:t>
            </a:r>
            <a:endParaRPr sz="2800" b="1" i="0" u="none" strike="noStrike" cap="none" dirty="0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14797814" y="478516"/>
            <a:ext cx="2965379" cy="1000815"/>
          </a:xfrm>
          <a:custGeom>
            <a:avLst/>
            <a:gdLst/>
            <a:ahLst/>
            <a:cxnLst/>
            <a:rect l="l" t="t" r="r" b="b"/>
            <a:pathLst>
              <a:path w="2965379" h="1000815" extrusionOk="0">
                <a:moveTo>
                  <a:pt x="0" y="0"/>
                </a:moveTo>
                <a:lnTo>
                  <a:pt x="2965379" y="0"/>
                </a:lnTo>
                <a:lnTo>
                  <a:pt x="2965379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7" name="Google Shape;107;p13"/>
          <p:cNvSpPr txBox="1"/>
          <p:nvPr/>
        </p:nvSpPr>
        <p:spPr>
          <a:xfrm>
            <a:off x="4015335" y="5458109"/>
            <a:ext cx="10257327" cy="93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8002"/>
              </a:lnSpc>
            </a:pPr>
            <a:r>
              <a:rPr lang="en-US" sz="2799" b="1" i="0" u="none" strike="noStrike" cap="none" dirty="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DOMAIN</a:t>
            </a:r>
            <a:r>
              <a:rPr lang="en-US" sz="2799" b="1" dirty="0">
                <a:solidFill>
                  <a:srgbClr val="545454"/>
                </a:solidFill>
              </a:rPr>
              <a:t>: Social Commerce powered by FinTech, AI &amp; Web3</a:t>
            </a:r>
            <a:endParaRPr dirty="0"/>
          </a:p>
          <a:p>
            <a:pPr marL="0" marR="0" lvl="0" indent="0" algn="ctr" rtl="0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b="1" i="0" u="none" strike="noStrike" cap="none" dirty="0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AF0629-EF41-17F7-B5C7-C2ADED4E8387}"/>
              </a:ext>
            </a:extLst>
          </p:cNvPr>
          <p:cNvSpPr txBox="1"/>
          <p:nvPr/>
        </p:nvSpPr>
        <p:spPr>
          <a:xfrm>
            <a:off x="1672041" y="7522138"/>
            <a:ext cx="825031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t">
              <a:buAutoNum type="arabicPeriod"/>
            </a:pPr>
            <a:r>
              <a:rPr lang="en-US" sz="2000" dirty="0"/>
              <a:t>Ayushman Swain (</a:t>
            </a:r>
            <a:r>
              <a:rPr lang="en-US" sz="2000" dirty="0" err="1"/>
              <a:t>BackEnd</a:t>
            </a:r>
            <a:r>
              <a:rPr lang="en-US" sz="2000" dirty="0"/>
              <a:t>)</a:t>
            </a:r>
            <a:endParaRPr lang="en-IN" sz="2000" dirty="0"/>
          </a:p>
          <a:p>
            <a:pPr marL="342900" indent="-342900" fontAlgn="t">
              <a:buAutoNum type="arabicPeriod"/>
            </a:pPr>
            <a:r>
              <a:rPr lang="en-US" sz="2000" dirty="0" err="1"/>
              <a:t>Koustubha</a:t>
            </a:r>
            <a:r>
              <a:rPr lang="en-US" sz="2000" dirty="0"/>
              <a:t> Pathy (</a:t>
            </a:r>
            <a:r>
              <a:rPr lang="en-US" sz="2000" dirty="0" err="1"/>
              <a:t>CyberSecurity</a:t>
            </a:r>
            <a:r>
              <a:rPr lang="en-US" sz="2000" dirty="0"/>
              <a:t>)</a:t>
            </a:r>
            <a:endParaRPr lang="en-IN" sz="2000" dirty="0"/>
          </a:p>
          <a:p>
            <a:pPr marL="342900" indent="-342900" fontAlgn="t">
              <a:buAutoNum type="arabicPeriod"/>
            </a:pPr>
            <a:r>
              <a:rPr lang="en-US" sz="2000" dirty="0"/>
              <a:t>Dharitri Aich (Research and Data Collection)</a:t>
            </a:r>
            <a:endParaRPr lang="en-IN" sz="2000" dirty="0"/>
          </a:p>
          <a:p>
            <a:pPr marL="342900" indent="-342900" fontAlgn="t">
              <a:buAutoNum type="arabicPeriod"/>
            </a:pPr>
            <a:r>
              <a:rPr lang="en-US" sz="2000" dirty="0"/>
              <a:t>Sibani </a:t>
            </a:r>
            <a:r>
              <a:rPr lang="en-US" sz="2000" dirty="0" err="1"/>
              <a:t>Bisoyi</a:t>
            </a:r>
            <a:r>
              <a:rPr lang="en-US" sz="2000" dirty="0"/>
              <a:t> ()</a:t>
            </a:r>
            <a:endParaRPr lang="en-IN" sz="2000" dirty="0"/>
          </a:p>
          <a:p>
            <a:pPr marL="342900" indent="-342900" fontAlgn="t">
              <a:buAutoNum type="arabicPeriod"/>
            </a:pPr>
            <a:r>
              <a:rPr lang="en-US" sz="2000" dirty="0"/>
              <a:t>Asish Kumar Behera ()</a:t>
            </a:r>
            <a:endParaRPr lang="en-I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11" b="-15111"/>
            </a:stretch>
          </a:blipFill>
          <a:ln>
            <a:noFill/>
          </a:ln>
        </p:spPr>
      </p:sp>
      <p:grpSp>
        <p:nvGrpSpPr>
          <p:cNvPr id="113" name="Google Shape;113;p14"/>
          <p:cNvGrpSpPr/>
          <p:nvPr/>
        </p:nvGrpSpPr>
        <p:grpSpPr>
          <a:xfrm>
            <a:off x="1028700" y="1923371"/>
            <a:ext cx="16734493" cy="8006094"/>
            <a:chOff x="0" y="-38100"/>
            <a:chExt cx="4407439" cy="2108601"/>
          </a:xfrm>
        </p:grpSpPr>
        <p:sp>
          <p:nvSpPr>
            <p:cNvPr id="114" name="Google Shape;114;p14"/>
            <p:cNvSpPr/>
            <p:nvPr/>
          </p:nvSpPr>
          <p:spPr>
            <a:xfrm>
              <a:off x="0" y="0"/>
              <a:ext cx="4407439" cy="2070501"/>
            </a:xfrm>
            <a:custGeom>
              <a:avLst/>
              <a:gdLst/>
              <a:ahLst/>
              <a:cxnLst/>
              <a:rect l="l" t="t" r="r" b="b"/>
              <a:pathLst>
                <a:path w="4407439" h="2070501" extrusionOk="0">
                  <a:moveTo>
                    <a:pt x="23594" y="0"/>
                  </a:moveTo>
                  <a:lnTo>
                    <a:pt x="4383844" y="0"/>
                  </a:lnTo>
                  <a:cubicBezTo>
                    <a:pt x="4396875" y="0"/>
                    <a:pt x="4407439" y="10564"/>
                    <a:pt x="4407439" y="23594"/>
                  </a:cubicBezTo>
                  <a:lnTo>
                    <a:pt x="4407439" y="2046907"/>
                  </a:lnTo>
                  <a:cubicBezTo>
                    <a:pt x="4407439" y="2053164"/>
                    <a:pt x="4404953" y="2059166"/>
                    <a:pt x="4400528" y="2063590"/>
                  </a:cubicBezTo>
                  <a:cubicBezTo>
                    <a:pt x="4396103" y="2068015"/>
                    <a:pt x="4390102" y="2070501"/>
                    <a:pt x="4383844" y="2070501"/>
                  </a:cubicBezTo>
                  <a:lnTo>
                    <a:pt x="23594" y="2070501"/>
                  </a:lnTo>
                  <a:cubicBezTo>
                    <a:pt x="17337" y="2070501"/>
                    <a:pt x="11335" y="2068015"/>
                    <a:pt x="6911" y="2063590"/>
                  </a:cubicBezTo>
                  <a:cubicBezTo>
                    <a:pt x="2486" y="2059166"/>
                    <a:pt x="0" y="2053164"/>
                    <a:pt x="0" y="2046907"/>
                  </a:cubicBezTo>
                  <a:lnTo>
                    <a:pt x="0" y="23594"/>
                  </a:lnTo>
                  <a:cubicBezTo>
                    <a:pt x="0" y="17337"/>
                    <a:pt x="2486" y="11335"/>
                    <a:pt x="6911" y="6911"/>
                  </a:cubicBezTo>
                  <a:cubicBezTo>
                    <a:pt x="11335" y="2486"/>
                    <a:pt x="17337" y="0"/>
                    <a:pt x="23594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4"/>
            <p:cNvSpPr txBox="1"/>
            <p:nvPr/>
          </p:nvSpPr>
          <p:spPr>
            <a:xfrm>
              <a:off x="0" y="-38100"/>
              <a:ext cx="4407439" cy="2108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6" name="Google Shape;116;p14"/>
          <p:cNvCxnSpPr/>
          <p:nvPr/>
        </p:nvCxnSpPr>
        <p:spPr>
          <a:xfrm>
            <a:off x="1093288" y="2482584"/>
            <a:ext cx="16655158" cy="0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14"/>
          <p:cNvSpPr/>
          <p:nvPr/>
        </p:nvSpPr>
        <p:spPr>
          <a:xfrm>
            <a:off x="16247239" y="8266304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8" name="Google Shape;118;p14"/>
          <p:cNvSpPr txBox="1"/>
          <p:nvPr/>
        </p:nvSpPr>
        <p:spPr>
          <a:xfrm>
            <a:off x="5267679" y="1080271"/>
            <a:ext cx="9252117" cy="97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61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2502359" y="8209154"/>
            <a:ext cx="3181377" cy="34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graphic designer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5397902" y="1364517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1" name="Google Shape;121;p14"/>
          <p:cNvSpPr txBox="1"/>
          <p:nvPr/>
        </p:nvSpPr>
        <p:spPr>
          <a:xfrm rot="-5400000">
            <a:off x="-3185586" y="5172900"/>
            <a:ext cx="7190400" cy="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0" b="1" i="0" u="none" strike="noStrike" cap="none">
                <a:solidFill>
                  <a:srgbClr val="071828"/>
                </a:solidFill>
                <a:latin typeface="Poppins Black"/>
                <a:ea typeface="Poppins Black"/>
                <a:cs typeface="Poppins Black"/>
                <a:sym typeface="Poppins Black"/>
              </a:rPr>
              <a:t>IDEA-BUILDUP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304364" y="271321"/>
            <a:ext cx="1514758" cy="1514758"/>
          </a:xfrm>
          <a:custGeom>
            <a:avLst/>
            <a:gdLst/>
            <a:ahLst/>
            <a:cxnLst/>
            <a:rect l="l" t="t" r="r" b="b"/>
            <a:pathLst>
              <a:path w="1514758" h="1514758" extrusionOk="0">
                <a:moveTo>
                  <a:pt x="0" y="0"/>
                </a:moveTo>
                <a:lnTo>
                  <a:pt x="1514758" y="0"/>
                </a:lnTo>
                <a:lnTo>
                  <a:pt x="1514758" y="1514758"/>
                </a:lnTo>
                <a:lnTo>
                  <a:pt x="0" y="1514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3" name="Google Shape;123;p14"/>
          <p:cNvSpPr/>
          <p:nvPr/>
        </p:nvSpPr>
        <p:spPr>
          <a:xfrm>
            <a:off x="14797814" y="478516"/>
            <a:ext cx="2965379" cy="1000815"/>
          </a:xfrm>
          <a:custGeom>
            <a:avLst/>
            <a:gdLst/>
            <a:ahLst/>
            <a:cxnLst/>
            <a:rect l="l" t="t" r="r" b="b"/>
            <a:pathLst>
              <a:path w="2965379" h="1000815" extrusionOk="0">
                <a:moveTo>
                  <a:pt x="0" y="0"/>
                </a:moveTo>
                <a:lnTo>
                  <a:pt x="2965379" y="0"/>
                </a:lnTo>
                <a:lnTo>
                  <a:pt x="2965379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25" name="Google Shape;125;p14"/>
          <p:cNvGrpSpPr/>
          <p:nvPr/>
        </p:nvGrpSpPr>
        <p:grpSpPr>
          <a:xfrm rot="-5400000">
            <a:off x="16452367" y="7789079"/>
            <a:ext cx="3174300" cy="571668"/>
            <a:chOff x="14208714" y="9245854"/>
            <a:chExt cx="3174300" cy="571668"/>
          </a:xfrm>
        </p:grpSpPr>
        <p:sp>
          <p:nvSpPr>
            <p:cNvPr id="126" name="Google Shape;126;p14"/>
            <p:cNvSpPr/>
            <p:nvPr/>
          </p:nvSpPr>
          <p:spPr>
            <a:xfrm>
              <a:off x="16687632" y="9245854"/>
              <a:ext cx="571668" cy="571668"/>
            </a:xfrm>
            <a:custGeom>
              <a:avLst/>
              <a:gdLst/>
              <a:ahLst/>
              <a:cxnLst/>
              <a:rect l="l" t="t" r="r" b="b"/>
              <a:pathLst>
                <a:path w="571668" h="571668" extrusionOk="0">
                  <a:moveTo>
                    <a:pt x="0" y="0"/>
                  </a:moveTo>
                  <a:lnTo>
                    <a:pt x="571668" y="0"/>
                  </a:lnTo>
                  <a:lnTo>
                    <a:pt x="571668" y="571668"/>
                  </a:lnTo>
                  <a:lnTo>
                    <a:pt x="0" y="5716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7" name="Google Shape;127;p14"/>
            <p:cNvSpPr txBox="1"/>
            <p:nvPr/>
          </p:nvSpPr>
          <p:spPr>
            <a:xfrm>
              <a:off x="14208714" y="9437785"/>
              <a:ext cx="31743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0" b="1" i="0" u="none" strike="noStrike" cap="none">
                  <a:solidFill>
                    <a:srgbClr val="D5434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SparkUp Summit 2026</a:t>
              </a: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9441918-CB26-FE37-B338-4AE25B6EB434}"/>
              </a:ext>
            </a:extLst>
          </p:cNvPr>
          <p:cNvSpPr/>
          <p:nvPr/>
        </p:nvSpPr>
        <p:spPr>
          <a:xfrm>
            <a:off x="1149733" y="2617361"/>
            <a:ext cx="8164849" cy="29595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AC9697-2DCB-6D92-C0E0-694AD26D1235}"/>
              </a:ext>
            </a:extLst>
          </p:cNvPr>
          <p:cNvSpPr/>
          <p:nvPr/>
        </p:nvSpPr>
        <p:spPr>
          <a:xfrm>
            <a:off x="9435615" y="2617361"/>
            <a:ext cx="8164849" cy="29595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83CAF3-B35C-6A6E-11BD-60C723B02AF1}"/>
              </a:ext>
            </a:extLst>
          </p:cNvPr>
          <p:cNvSpPr/>
          <p:nvPr/>
        </p:nvSpPr>
        <p:spPr>
          <a:xfrm>
            <a:off x="1170179" y="5663100"/>
            <a:ext cx="8164849" cy="29595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E83563-542F-2652-17D3-A2CC027DDA5C}"/>
              </a:ext>
            </a:extLst>
          </p:cNvPr>
          <p:cNvSpPr/>
          <p:nvPr/>
        </p:nvSpPr>
        <p:spPr>
          <a:xfrm>
            <a:off x="9435614" y="5675004"/>
            <a:ext cx="8164849" cy="29595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377986-4DEE-5823-E0C3-866620AAD7ED}"/>
              </a:ext>
            </a:extLst>
          </p:cNvPr>
          <p:cNvSpPr/>
          <p:nvPr/>
        </p:nvSpPr>
        <p:spPr>
          <a:xfrm>
            <a:off x="1367726" y="2617361"/>
            <a:ext cx="7946856" cy="29238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buAutoNum type="arabicPeriod"/>
            </a:pPr>
            <a:r>
              <a:rPr lang="en-GB" sz="2200" b="1" dirty="0"/>
              <a:t>The Predatory Profit Leak (Exploitation)</a:t>
            </a:r>
          </a:p>
          <a:p>
            <a:pPr marL="457200" indent="-457200">
              <a:buAutoNum type="arabicPeriod"/>
            </a:pPr>
            <a:endParaRPr lang="en-GB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Problem:</a:t>
            </a:r>
            <a:r>
              <a:rPr lang="en-GB" sz="2000" dirty="0"/>
              <a:t> Fragmented supply chains allow middlemen to absorb </a:t>
            </a:r>
            <a:r>
              <a:rPr lang="en-GB" sz="2000" b="1" dirty="0"/>
              <a:t>80–90%</a:t>
            </a:r>
            <a:r>
              <a:rPr lang="en-GB" sz="2000" dirty="0"/>
              <a:t> of the total product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Brutal Reality:</a:t>
            </a:r>
            <a:r>
              <a:rPr lang="en-GB" sz="2000" dirty="0"/>
              <a:t> While a luxury store sells a hand-woven saree for </a:t>
            </a:r>
            <a:r>
              <a:rPr lang="en-GB" sz="2000" b="1" dirty="0"/>
              <a:t>₹45,000</a:t>
            </a:r>
            <a:r>
              <a:rPr lang="en-GB" sz="2000" dirty="0"/>
              <a:t>, the artisan who spent 20 days making it receives only </a:t>
            </a:r>
            <a:r>
              <a:rPr lang="en-GB" sz="2000" b="1" dirty="0"/>
              <a:t>₹1,800</a:t>
            </a:r>
            <a:r>
              <a:rPr lang="en-GB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Impact:</a:t>
            </a:r>
            <a:r>
              <a:rPr lang="en-GB" sz="2000" dirty="0"/>
              <a:t> Artisans are forced into daily-wage labour (construction/cleaning) to survive, killing the craft.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3DAAF9-BAE0-0A55-EA15-B70E8E088E10}"/>
              </a:ext>
            </a:extLst>
          </p:cNvPr>
          <p:cNvSpPr/>
          <p:nvPr/>
        </p:nvSpPr>
        <p:spPr>
          <a:xfrm>
            <a:off x="9532575" y="2610158"/>
            <a:ext cx="8107556" cy="32316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GB" sz="2200" b="1" dirty="0"/>
              <a:t>2. The Trust Deficit (The Clone Crisis)</a:t>
            </a:r>
          </a:p>
          <a:p>
            <a:endParaRPr lang="en-GB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Problem:</a:t>
            </a:r>
            <a:r>
              <a:rPr lang="en-GB" sz="2000" dirty="0"/>
              <a:t> </a:t>
            </a:r>
            <a:r>
              <a:rPr lang="en-GB" sz="2000" b="1" dirty="0"/>
              <a:t>₹32,000 Crore</a:t>
            </a:r>
            <a:r>
              <a:rPr lang="en-GB" sz="2000" dirty="0"/>
              <a:t> is lost annually to power-loom and machine-made "fakes" sold as authentic handloom.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Brutal Reality:</a:t>
            </a:r>
            <a:r>
              <a:rPr lang="en-GB" sz="2000" dirty="0"/>
              <a:t> </a:t>
            </a:r>
            <a:r>
              <a:rPr lang="en-GB" sz="2000" b="1" dirty="0"/>
              <a:t>78% of customers</a:t>
            </a:r>
            <a:r>
              <a:rPr lang="en-GB" sz="2000" dirty="0"/>
              <a:t> want to support "vocal for local" but end up buying factory-made clones because there is </a:t>
            </a:r>
            <a:r>
              <a:rPr lang="en-GB" sz="2000" b="1" dirty="0"/>
              <a:t>zero </a:t>
            </a:r>
            <a:r>
              <a:rPr lang="en-GB" sz="2000" b="1" dirty="0" err="1"/>
              <a:t>unhackable</a:t>
            </a:r>
            <a:r>
              <a:rPr lang="en-GB" sz="2000" b="1" dirty="0"/>
              <a:t> proof</a:t>
            </a:r>
            <a:r>
              <a:rPr lang="en-GB" sz="2000" dirty="0"/>
              <a:t> of origin.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Impact:</a:t>
            </a:r>
            <a:r>
              <a:rPr lang="en-GB" sz="2000" dirty="0"/>
              <a:t> Machine-made speed is bankrupting the slow, authentic hand-made tradition.</a:t>
            </a:r>
          </a:p>
          <a:p>
            <a:pPr algn="ctr"/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D16CA-6F56-CDDA-397F-6E15C0AC572C}"/>
              </a:ext>
            </a:extLst>
          </p:cNvPr>
          <p:cNvSpPr/>
          <p:nvPr/>
        </p:nvSpPr>
        <p:spPr>
          <a:xfrm>
            <a:off x="1367725" y="5586452"/>
            <a:ext cx="8035963" cy="29238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GB" sz="2200" b="1" dirty="0"/>
              <a:t>3. The Identity Heist (IP Plagiarism)</a:t>
            </a:r>
          </a:p>
          <a:p>
            <a:endParaRPr lang="en-GB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Problem:</a:t>
            </a:r>
            <a:r>
              <a:rPr lang="en-GB" sz="2000" dirty="0"/>
              <a:t> Global fast-fashion brands "screenshot" sacred tribal patterns at craft fairs and mass-produce them without credit.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Brutal Reality:</a:t>
            </a:r>
            <a:r>
              <a:rPr lang="en-GB" sz="2000" dirty="0"/>
              <a:t> </a:t>
            </a:r>
            <a:r>
              <a:rPr lang="en-GB" sz="2000" b="1" dirty="0"/>
              <a:t>78% of artisans</a:t>
            </a:r>
            <a:r>
              <a:rPr lang="en-GB" sz="2000" dirty="0"/>
              <a:t> have no legal documentation of their designs. They are powerless as their 500-year-old heritage is sold on Myntra for </a:t>
            </a:r>
            <a:r>
              <a:rPr lang="en-GB" sz="2000" b="1" dirty="0"/>
              <a:t>₹299</a:t>
            </a:r>
            <a:r>
              <a:rPr lang="en-GB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Impact:</a:t>
            </a:r>
            <a:r>
              <a:rPr lang="en-GB" sz="2000" dirty="0"/>
              <a:t> The </a:t>
            </a:r>
            <a:r>
              <a:rPr lang="en-GB" sz="2000" b="1" dirty="0"/>
              <a:t>"Human behind the Art"</a:t>
            </a:r>
            <a:r>
              <a:rPr lang="en-GB" sz="2000" dirty="0"/>
              <a:t> is erased, and ancestral knowledge is stolen for corporate profit.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610277-D3B8-A095-9E11-E281A64544D1}"/>
              </a:ext>
            </a:extLst>
          </p:cNvPr>
          <p:cNvSpPr/>
          <p:nvPr/>
        </p:nvSpPr>
        <p:spPr>
          <a:xfrm>
            <a:off x="9395945" y="5643938"/>
            <a:ext cx="8164849" cy="29238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GB" sz="2200" b="1" dirty="0"/>
              <a:t>4. The Awareness Void (The Literacy Tax)</a:t>
            </a:r>
          </a:p>
          <a:p>
            <a:endParaRPr lang="en-GB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Problem:</a:t>
            </a:r>
            <a:r>
              <a:rPr lang="en-GB" sz="2000" dirty="0"/>
              <a:t> Over </a:t>
            </a:r>
            <a:r>
              <a:rPr lang="en-GB" sz="2000" b="1" dirty="0"/>
              <a:t>₹3,55,000</a:t>
            </a:r>
            <a:r>
              <a:rPr lang="en-GB" sz="2000" dirty="0"/>
              <a:t> in Government benefits per artisan remains untouched due to digital illiteracy.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Brutal Reality:</a:t>
            </a:r>
            <a:r>
              <a:rPr lang="en-GB" sz="2000" dirty="0"/>
              <a:t> Complex English/Hindi forms and "middleman-facilitators" act as a gatekeeper to survival capital.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The Impact:</a:t>
            </a:r>
            <a:r>
              <a:rPr lang="en-GB" sz="2000" dirty="0"/>
              <a:t> Thousands of crores in </a:t>
            </a:r>
            <a:r>
              <a:rPr lang="en-GB" sz="2000" b="1" dirty="0"/>
              <a:t>PM Vishwakarma</a:t>
            </a:r>
            <a:r>
              <a:rPr lang="en-GB" sz="2000" dirty="0"/>
              <a:t> and </a:t>
            </a:r>
            <a:r>
              <a:rPr lang="en-GB" sz="2000" b="1" dirty="0"/>
              <a:t>National Artisan Grants</a:t>
            </a:r>
            <a:r>
              <a:rPr lang="en-GB" sz="2000" dirty="0"/>
              <a:t> expire every year while artisans live in debt.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9D8E76-8843-8A06-E608-70135262FB38}"/>
              </a:ext>
            </a:extLst>
          </p:cNvPr>
          <p:cNvSpPr txBox="1"/>
          <p:nvPr/>
        </p:nvSpPr>
        <p:spPr>
          <a:xfrm>
            <a:off x="3305370" y="8911993"/>
            <a:ext cx="120593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"We are witnessing the economic collapse of India’s second-largest employer—not due to a lack of skill, but a total lack of digital infrastructure."</a:t>
            </a:r>
            <a:endParaRPr lang="en-GB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11" b="-15111"/>
            </a:stretch>
          </a:blipFill>
          <a:ln>
            <a:noFill/>
          </a:ln>
        </p:spPr>
      </p:sp>
      <p:grpSp>
        <p:nvGrpSpPr>
          <p:cNvPr id="133" name="Google Shape;133;p15"/>
          <p:cNvGrpSpPr/>
          <p:nvPr/>
        </p:nvGrpSpPr>
        <p:grpSpPr>
          <a:xfrm>
            <a:off x="1028700" y="1923371"/>
            <a:ext cx="16459890" cy="8006094"/>
            <a:chOff x="0" y="-38100"/>
            <a:chExt cx="4335115" cy="2108601"/>
          </a:xfrm>
        </p:grpSpPr>
        <p:sp>
          <p:nvSpPr>
            <p:cNvPr id="134" name="Google Shape;134;p15"/>
            <p:cNvSpPr/>
            <p:nvPr/>
          </p:nvSpPr>
          <p:spPr>
            <a:xfrm>
              <a:off x="0" y="0"/>
              <a:ext cx="4335115" cy="2070501"/>
            </a:xfrm>
            <a:custGeom>
              <a:avLst/>
              <a:gdLst/>
              <a:ahLst/>
              <a:cxnLst/>
              <a:rect l="l" t="t" r="r" b="b"/>
              <a:pathLst>
                <a:path w="4335115" h="2070501" extrusionOk="0">
                  <a:moveTo>
                    <a:pt x="23988" y="0"/>
                  </a:moveTo>
                  <a:lnTo>
                    <a:pt x="4311127" y="0"/>
                  </a:lnTo>
                  <a:cubicBezTo>
                    <a:pt x="4317489" y="0"/>
                    <a:pt x="4323591" y="2527"/>
                    <a:pt x="4328089" y="7026"/>
                  </a:cubicBezTo>
                  <a:cubicBezTo>
                    <a:pt x="4332588" y="11524"/>
                    <a:pt x="4335115" y="17626"/>
                    <a:pt x="4335115" y="23988"/>
                  </a:cubicBezTo>
                  <a:lnTo>
                    <a:pt x="4335115" y="2046513"/>
                  </a:lnTo>
                  <a:cubicBezTo>
                    <a:pt x="4335115" y="2059761"/>
                    <a:pt x="4324376" y="2070501"/>
                    <a:pt x="4311127" y="2070501"/>
                  </a:cubicBezTo>
                  <a:lnTo>
                    <a:pt x="23988" y="2070501"/>
                  </a:lnTo>
                  <a:cubicBezTo>
                    <a:pt x="17626" y="2070501"/>
                    <a:pt x="11524" y="2067974"/>
                    <a:pt x="7026" y="2063475"/>
                  </a:cubicBezTo>
                  <a:cubicBezTo>
                    <a:pt x="2527" y="2058976"/>
                    <a:pt x="0" y="2052875"/>
                    <a:pt x="0" y="2046513"/>
                  </a:cubicBezTo>
                  <a:lnTo>
                    <a:pt x="0" y="23988"/>
                  </a:lnTo>
                  <a:cubicBezTo>
                    <a:pt x="0" y="17626"/>
                    <a:pt x="2527" y="11524"/>
                    <a:pt x="7026" y="7026"/>
                  </a:cubicBezTo>
                  <a:cubicBezTo>
                    <a:pt x="11524" y="2527"/>
                    <a:pt x="17626" y="0"/>
                    <a:pt x="23988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0" y="-38100"/>
              <a:ext cx="4335115" cy="2108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6" name="Google Shape;136;p15"/>
          <p:cNvCxnSpPr/>
          <p:nvPr/>
        </p:nvCxnSpPr>
        <p:spPr>
          <a:xfrm>
            <a:off x="1028700" y="2532872"/>
            <a:ext cx="16485563" cy="0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15"/>
          <p:cNvSpPr/>
          <p:nvPr/>
        </p:nvSpPr>
        <p:spPr>
          <a:xfrm>
            <a:off x="16247239" y="8266304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p15"/>
          <p:cNvSpPr txBox="1"/>
          <p:nvPr/>
        </p:nvSpPr>
        <p:spPr>
          <a:xfrm>
            <a:off x="4769888" y="1080271"/>
            <a:ext cx="9252117" cy="97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61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2502359" y="8209154"/>
            <a:ext cx="3181377" cy="34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graphic designer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6952523" y="1364517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9" y="0"/>
                </a:lnTo>
                <a:lnTo>
                  <a:pt x="571669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1" name="Google Shape;141;p15"/>
          <p:cNvSpPr txBox="1"/>
          <p:nvPr/>
        </p:nvSpPr>
        <p:spPr>
          <a:xfrm rot="-5400000">
            <a:off x="-3160917" y="5172900"/>
            <a:ext cx="7190400" cy="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0" b="1" i="0" u="none" strike="noStrike" cap="none">
                <a:solidFill>
                  <a:srgbClr val="071828"/>
                </a:solidFill>
                <a:latin typeface="Poppins Black"/>
                <a:ea typeface="Poppins Black"/>
                <a:cs typeface="Poppins Black"/>
                <a:sym typeface="Poppins Black"/>
              </a:rPr>
              <a:t>IDEA-BUILDUP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304364" y="271321"/>
            <a:ext cx="1514758" cy="1514758"/>
          </a:xfrm>
          <a:custGeom>
            <a:avLst/>
            <a:gdLst/>
            <a:ahLst/>
            <a:cxnLst/>
            <a:rect l="l" t="t" r="r" b="b"/>
            <a:pathLst>
              <a:path w="1514758" h="1514758" extrusionOk="0">
                <a:moveTo>
                  <a:pt x="0" y="0"/>
                </a:moveTo>
                <a:lnTo>
                  <a:pt x="1514758" y="0"/>
                </a:lnTo>
                <a:lnTo>
                  <a:pt x="1514758" y="1514758"/>
                </a:lnTo>
                <a:lnTo>
                  <a:pt x="0" y="1514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3" name="Google Shape;143;p15"/>
          <p:cNvSpPr/>
          <p:nvPr/>
        </p:nvSpPr>
        <p:spPr>
          <a:xfrm>
            <a:off x="14797814" y="478516"/>
            <a:ext cx="2965379" cy="1000815"/>
          </a:xfrm>
          <a:custGeom>
            <a:avLst/>
            <a:gdLst/>
            <a:ahLst/>
            <a:cxnLst/>
            <a:rect l="l" t="t" r="r" b="b"/>
            <a:pathLst>
              <a:path w="2965379" h="1000815" extrusionOk="0">
                <a:moveTo>
                  <a:pt x="0" y="0"/>
                </a:moveTo>
                <a:lnTo>
                  <a:pt x="2965379" y="0"/>
                </a:lnTo>
                <a:lnTo>
                  <a:pt x="2965379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8" name="Google Shape;148;p15"/>
          <p:cNvSpPr/>
          <p:nvPr/>
        </p:nvSpPr>
        <p:spPr>
          <a:xfrm>
            <a:off x="17488590" y="9462084"/>
            <a:ext cx="549207" cy="549207"/>
          </a:xfrm>
          <a:custGeom>
            <a:avLst/>
            <a:gdLst/>
            <a:ahLst/>
            <a:cxnLst/>
            <a:rect l="l" t="t" r="r" b="b"/>
            <a:pathLst>
              <a:path w="549207" h="549207" extrusionOk="0">
                <a:moveTo>
                  <a:pt x="0" y="0"/>
                </a:moveTo>
                <a:lnTo>
                  <a:pt x="549207" y="0"/>
                </a:lnTo>
                <a:lnTo>
                  <a:pt x="549207" y="549206"/>
                </a:lnTo>
                <a:lnTo>
                  <a:pt x="0" y="549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9" name="Google Shape;149;p15"/>
          <p:cNvGrpSpPr/>
          <p:nvPr/>
        </p:nvGrpSpPr>
        <p:grpSpPr>
          <a:xfrm rot="-5400000">
            <a:off x="16452367" y="7789079"/>
            <a:ext cx="3174300" cy="571668"/>
            <a:chOff x="14208714" y="9245854"/>
            <a:chExt cx="3174300" cy="571668"/>
          </a:xfrm>
        </p:grpSpPr>
        <p:sp>
          <p:nvSpPr>
            <p:cNvPr id="150" name="Google Shape;150;p15"/>
            <p:cNvSpPr/>
            <p:nvPr/>
          </p:nvSpPr>
          <p:spPr>
            <a:xfrm>
              <a:off x="16687632" y="9245854"/>
              <a:ext cx="571668" cy="571668"/>
            </a:xfrm>
            <a:custGeom>
              <a:avLst/>
              <a:gdLst/>
              <a:ahLst/>
              <a:cxnLst/>
              <a:rect l="l" t="t" r="r" b="b"/>
              <a:pathLst>
                <a:path w="571668" h="571668" extrusionOk="0">
                  <a:moveTo>
                    <a:pt x="0" y="0"/>
                  </a:moveTo>
                  <a:lnTo>
                    <a:pt x="571668" y="0"/>
                  </a:lnTo>
                  <a:lnTo>
                    <a:pt x="571668" y="571668"/>
                  </a:lnTo>
                  <a:lnTo>
                    <a:pt x="0" y="5716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1" name="Google Shape;151;p15"/>
            <p:cNvSpPr txBox="1"/>
            <p:nvPr/>
          </p:nvSpPr>
          <p:spPr>
            <a:xfrm>
              <a:off x="14208714" y="9437785"/>
              <a:ext cx="31743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0" b="1" i="0" u="none" strike="noStrike" cap="none">
                  <a:solidFill>
                    <a:srgbClr val="D5434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SparkUp Summit 2026</a:t>
              </a:r>
              <a:endParaRPr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FEDC3A9-5A59-A55C-6454-27771E4D6ADA}"/>
              </a:ext>
            </a:extLst>
          </p:cNvPr>
          <p:cNvSpPr/>
          <p:nvPr/>
        </p:nvSpPr>
        <p:spPr>
          <a:xfrm>
            <a:off x="1101255" y="2677534"/>
            <a:ext cx="3933559" cy="5330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1.</a:t>
            </a:r>
            <a:r>
              <a:rPr lang="en-GB" b="1"/>
              <a:t> . 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25A26D-3381-56FC-94A7-F8C5DF688B0E}"/>
              </a:ext>
            </a:extLst>
          </p:cNvPr>
          <p:cNvSpPr/>
          <p:nvPr/>
        </p:nvSpPr>
        <p:spPr>
          <a:xfrm>
            <a:off x="1381507" y="2920217"/>
            <a:ext cx="3725862" cy="4401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2200" b="1" dirty="0"/>
              <a:t>1. </a:t>
            </a:r>
            <a:r>
              <a:rPr lang="en-GB" sz="2200" b="1" dirty="0" err="1"/>
              <a:t>PriceMirror</a:t>
            </a:r>
            <a:r>
              <a:rPr lang="en-GB" sz="2200" b="1" dirty="0"/>
              <a:t> Engine | The Middleman Killer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1800" b="1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Tech: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Smart-Contract Payment Splitting.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Action: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Automatically splits buyer payments at the source.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Result: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Bypasses the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80-90% middleman margin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sending the artisan’s fair share instantly to their digital wallet.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EFB0B3-565C-804B-45E9-ADD14ED79684}"/>
              </a:ext>
            </a:extLst>
          </p:cNvPr>
          <p:cNvSpPr/>
          <p:nvPr/>
        </p:nvSpPr>
        <p:spPr>
          <a:xfrm>
            <a:off x="5171620" y="2677534"/>
            <a:ext cx="3933559" cy="5330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 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0B1AFA-1C0E-8F19-0DDB-050449587907}"/>
              </a:ext>
            </a:extLst>
          </p:cNvPr>
          <p:cNvSpPr/>
          <p:nvPr/>
        </p:nvSpPr>
        <p:spPr>
          <a:xfrm>
            <a:off x="5337042" y="2901607"/>
            <a:ext cx="3679094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2200" b="1" dirty="0"/>
              <a:t>2. </a:t>
            </a:r>
            <a:r>
              <a:rPr lang="en-GB" sz="2200" b="1" dirty="0" err="1"/>
              <a:t>TruthMark</a:t>
            </a:r>
            <a:r>
              <a:rPr lang="en-GB" sz="2200" b="1" dirty="0"/>
              <a:t> System |       The Authenticity Shield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Tech: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QR Code + IPFS Blockchain Storage.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Action: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Every product receives a unique, non-copyable QR code.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Result: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Scanning opens a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"Digital Birth Certificate"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featuring a creation video, the artisan’s face, and GPS-verified village coordinates to kill the counterfeit market.</a:t>
            </a:r>
            <a:endParaRPr lang="en-GB" sz="20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5578DF-12E2-E105-E449-AADECDC8EE70}"/>
              </a:ext>
            </a:extLst>
          </p:cNvPr>
          <p:cNvSpPr/>
          <p:nvPr/>
        </p:nvSpPr>
        <p:spPr>
          <a:xfrm>
            <a:off x="9304582" y="2705593"/>
            <a:ext cx="3933559" cy="5330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 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99AFFC-90DE-AB2D-E353-C4CBEFA637F2}"/>
              </a:ext>
            </a:extLst>
          </p:cNvPr>
          <p:cNvSpPr/>
          <p:nvPr/>
        </p:nvSpPr>
        <p:spPr>
          <a:xfrm>
            <a:off x="13422796" y="2656037"/>
            <a:ext cx="3933559" cy="5330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 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F2A8A6-52C9-EBE3-0761-15577C74D528}"/>
              </a:ext>
            </a:extLst>
          </p:cNvPr>
          <p:cNvSpPr/>
          <p:nvPr/>
        </p:nvSpPr>
        <p:spPr>
          <a:xfrm>
            <a:off x="9278909" y="2901606"/>
            <a:ext cx="3679094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2200" b="1" dirty="0"/>
              <a:t>3. </a:t>
            </a:r>
            <a:r>
              <a:rPr lang="en-GB" sz="2200" b="1" dirty="0" err="1"/>
              <a:t>SchemeGPT</a:t>
            </a:r>
            <a:r>
              <a:rPr lang="en-GB" sz="2200" b="1" dirty="0"/>
              <a:t> | The Capital </a:t>
            </a:r>
            <a:r>
              <a:rPr lang="en-GB" sz="2200" b="1" dirty="0" err="1"/>
              <a:t>Unlocker</a:t>
            </a:r>
            <a:endParaRPr lang="en-US" altLang="en-US" sz="22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2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Tech: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Voice-First Multilingual LLM.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Action: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A voice-activated AI that speaks local dialects to scan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100+ Govt. schemes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(e.g., PM Vishwakarma).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Result: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Auto-fills complex applications in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&lt;60 seconds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unlocking unclaimed capital for rural clusters.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2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2FE664-195C-AA18-4DFA-85C8659477E9}"/>
              </a:ext>
            </a:extLst>
          </p:cNvPr>
          <p:cNvSpPr/>
          <p:nvPr/>
        </p:nvSpPr>
        <p:spPr>
          <a:xfrm>
            <a:off x="13580206" y="2896283"/>
            <a:ext cx="3679094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2200" b="1" dirty="0"/>
              <a:t>4. </a:t>
            </a:r>
            <a:r>
              <a:rPr lang="en-GB" sz="2200" b="1" dirty="0" err="1"/>
              <a:t>CraftMark</a:t>
            </a:r>
            <a:r>
              <a:rPr lang="en-GB" sz="2200" b="1" dirty="0"/>
              <a:t> IP Shield | The Identity Guard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22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Tech:</a:t>
            </a:r>
            <a:r>
              <a:rPr lang="en-IN" sz="2000" dirty="0"/>
              <a:t> Perceptual Hashing (</a:t>
            </a:r>
            <a:r>
              <a:rPr lang="en-IN" sz="2000" dirty="0" err="1"/>
              <a:t>pHash</a:t>
            </a:r>
            <a:r>
              <a:rPr lang="en-IN" sz="2000" dirty="0"/>
              <a:t>) + AI Web Crawlers.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Action:</a:t>
            </a:r>
            <a:r>
              <a:rPr lang="en-IN" sz="2000" dirty="0"/>
              <a:t> Generates a unique digital fingerprint for every design.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Result:</a:t>
            </a:r>
            <a:r>
              <a:rPr lang="en-IN" sz="2000" dirty="0"/>
              <a:t> AI bots scan global platforms (Amazon/Myntra) 24/7 and </a:t>
            </a:r>
            <a:r>
              <a:rPr lang="en-IN" sz="2000" b="1" dirty="0"/>
              <a:t>auto-send legal IP Takedown Notices</a:t>
            </a:r>
            <a:r>
              <a:rPr lang="en-IN" sz="2000" dirty="0"/>
              <a:t> the moment a copy is detected.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2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ED9ECC-2C72-CCED-F7F2-C9B8C97F1937}"/>
              </a:ext>
            </a:extLst>
          </p:cNvPr>
          <p:cNvSpPr txBox="1"/>
          <p:nvPr/>
        </p:nvSpPr>
        <p:spPr>
          <a:xfrm>
            <a:off x="4593934" y="8359942"/>
            <a:ext cx="921774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"We are building the Decentralized Infrastructure to move India's 7 million artisans from 'Survival' to 'Sovereignty'."</a:t>
            </a:r>
            <a:endParaRPr lang="en-GB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430C46-E1BF-F4FA-8A7A-9CB4871D8E94}"/>
              </a:ext>
            </a:extLst>
          </p:cNvPr>
          <p:cNvSpPr txBox="1"/>
          <p:nvPr/>
        </p:nvSpPr>
        <p:spPr>
          <a:xfrm>
            <a:off x="3068034" y="9451257"/>
            <a:ext cx="13368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Integrated Tech Stack:</a:t>
            </a:r>
            <a:r>
              <a:rPr lang="en-IN" sz="2000" dirty="0"/>
              <a:t> ONDC Protocol | IPFS &amp; Pinata | MONGO DB | Python (</a:t>
            </a:r>
            <a:r>
              <a:rPr lang="en-IN" sz="2000" dirty="0" err="1"/>
              <a:t>pHash</a:t>
            </a:r>
            <a:r>
              <a:rPr lang="en-IN" sz="2000" dirty="0"/>
              <a:t>) | Multilingual Voice-LLM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11" b="-15111"/>
            </a:stretch>
          </a:blipFill>
          <a:ln>
            <a:noFill/>
          </a:ln>
        </p:spPr>
      </p:sp>
      <p:grpSp>
        <p:nvGrpSpPr>
          <p:cNvPr id="157" name="Google Shape;157;p16"/>
          <p:cNvGrpSpPr/>
          <p:nvPr/>
        </p:nvGrpSpPr>
        <p:grpSpPr>
          <a:xfrm>
            <a:off x="1028700" y="1517900"/>
            <a:ext cx="16230600" cy="8493390"/>
            <a:chOff x="0" y="-38100"/>
            <a:chExt cx="4449552" cy="2328428"/>
          </a:xfrm>
        </p:grpSpPr>
        <p:sp>
          <p:nvSpPr>
            <p:cNvPr id="158" name="Google Shape;158;p16"/>
            <p:cNvSpPr/>
            <p:nvPr/>
          </p:nvSpPr>
          <p:spPr>
            <a:xfrm>
              <a:off x="0" y="0"/>
              <a:ext cx="4449552" cy="2290328"/>
            </a:xfrm>
            <a:custGeom>
              <a:avLst/>
              <a:gdLst/>
              <a:ahLst/>
              <a:cxnLst/>
              <a:rect l="l" t="t" r="r" b="b"/>
              <a:pathLst>
                <a:path w="4449552" h="2290328" extrusionOk="0">
                  <a:moveTo>
                    <a:pt x="24327" y="0"/>
                  </a:moveTo>
                  <a:lnTo>
                    <a:pt x="4425225" y="0"/>
                  </a:lnTo>
                  <a:cubicBezTo>
                    <a:pt x="4431677" y="0"/>
                    <a:pt x="4437865" y="2563"/>
                    <a:pt x="4442427" y="7125"/>
                  </a:cubicBezTo>
                  <a:cubicBezTo>
                    <a:pt x="4446989" y="11687"/>
                    <a:pt x="4449552" y="17875"/>
                    <a:pt x="4449552" y="24327"/>
                  </a:cubicBezTo>
                  <a:lnTo>
                    <a:pt x="4449552" y="2266001"/>
                  </a:lnTo>
                  <a:cubicBezTo>
                    <a:pt x="4449552" y="2279437"/>
                    <a:pt x="4438660" y="2290328"/>
                    <a:pt x="4425225" y="2290328"/>
                  </a:cubicBezTo>
                  <a:lnTo>
                    <a:pt x="24327" y="2290328"/>
                  </a:lnTo>
                  <a:cubicBezTo>
                    <a:pt x="10891" y="2290328"/>
                    <a:pt x="0" y="2279437"/>
                    <a:pt x="0" y="2266001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6"/>
            <p:cNvSpPr txBox="1"/>
            <p:nvPr/>
          </p:nvSpPr>
          <p:spPr>
            <a:xfrm>
              <a:off x="0" y="-38100"/>
              <a:ext cx="4449552" cy="23284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6"/>
          <p:cNvSpPr/>
          <p:nvPr/>
        </p:nvSpPr>
        <p:spPr>
          <a:xfrm>
            <a:off x="5350725" y="1085209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61" name="Google Shape;161;p16"/>
          <p:cNvCxnSpPr/>
          <p:nvPr/>
        </p:nvCxnSpPr>
        <p:spPr>
          <a:xfrm>
            <a:off x="1112179" y="2087082"/>
            <a:ext cx="16000765" cy="0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16"/>
          <p:cNvSpPr txBox="1"/>
          <p:nvPr/>
        </p:nvSpPr>
        <p:spPr>
          <a:xfrm>
            <a:off x="5636559" y="836049"/>
            <a:ext cx="7014882" cy="927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51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MARKET ANALYSIS</a:t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16020188" y="8820805"/>
            <a:ext cx="549207" cy="549207"/>
          </a:xfrm>
          <a:custGeom>
            <a:avLst/>
            <a:gdLst/>
            <a:ahLst/>
            <a:cxnLst/>
            <a:rect l="l" t="t" r="r" b="b"/>
            <a:pathLst>
              <a:path w="549207" h="549207" extrusionOk="0">
                <a:moveTo>
                  <a:pt x="0" y="0"/>
                </a:moveTo>
                <a:lnTo>
                  <a:pt x="549207" y="0"/>
                </a:lnTo>
                <a:lnTo>
                  <a:pt x="549207" y="549206"/>
                </a:lnTo>
                <a:lnTo>
                  <a:pt x="0" y="549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16"/>
          <p:cNvSpPr txBox="1"/>
          <p:nvPr/>
        </p:nvSpPr>
        <p:spPr>
          <a:xfrm>
            <a:off x="1457882" y="2087082"/>
            <a:ext cx="476797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D54344"/>
                </a:solidFill>
                <a:latin typeface="Poppins"/>
                <a:ea typeface="Poppins"/>
                <a:cs typeface="Poppins"/>
                <a:sym typeface="Poppins"/>
              </a:rPr>
              <a:t>Needs/Demands of the Market</a:t>
            </a:r>
            <a:endParaRPr sz="3200" dirty="0"/>
          </a:p>
        </p:txBody>
      </p:sp>
      <p:sp>
        <p:nvSpPr>
          <p:cNvPr id="168" name="Google Shape;168;p16"/>
          <p:cNvSpPr txBox="1"/>
          <p:nvPr/>
        </p:nvSpPr>
        <p:spPr>
          <a:xfrm>
            <a:off x="7414782" y="2132667"/>
            <a:ext cx="4081656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D54344"/>
                </a:solidFill>
                <a:latin typeface="Poppins"/>
                <a:ea typeface="Poppins"/>
                <a:cs typeface="Poppins"/>
                <a:sym typeface="Poppins"/>
              </a:rPr>
              <a:t>Target Audience</a:t>
            </a:r>
            <a:endParaRPr sz="3200" dirty="0"/>
          </a:p>
        </p:txBody>
      </p:sp>
      <p:sp>
        <p:nvSpPr>
          <p:cNvPr id="169" name="Google Shape;169;p16"/>
          <p:cNvSpPr txBox="1"/>
          <p:nvPr/>
        </p:nvSpPr>
        <p:spPr>
          <a:xfrm>
            <a:off x="12897129" y="2127966"/>
            <a:ext cx="3229312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D54344"/>
                </a:solidFill>
                <a:latin typeface="Poppins"/>
                <a:ea typeface="Poppins"/>
                <a:cs typeface="Poppins"/>
                <a:sym typeface="Poppins"/>
              </a:rPr>
              <a:t>Competitors</a:t>
            </a:r>
            <a:endParaRPr sz="3200" dirty="0"/>
          </a:p>
        </p:txBody>
      </p:sp>
      <p:cxnSp>
        <p:nvCxnSpPr>
          <p:cNvPr id="170" name="Google Shape;170;p16"/>
          <p:cNvCxnSpPr/>
          <p:nvPr/>
        </p:nvCxnSpPr>
        <p:spPr>
          <a:xfrm>
            <a:off x="6567057" y="2101333"/>
            <a:ext cx="0" cy="7909957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16"/>
          <p:cNvCxnSpPr/>
          <p:nvPr/>
        </p:nvCxnSpPr>
        <p:spPr>
          <a:xfrm>
            <a:off x="11868428" y="2087082"/>
            <a:ext cx="0" cy="7909957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16"/>
          <p:cNvSpPr txBox="1"/>
          <p:nvPr/>
        </p:nvSpPr>
        <p:spPr>
          <a:xfrm rot="-5400000">
            <a:off x="-3160917" y="5172900"/>
            <a:ext cx="7190400" cy="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0" b="1" i="0" u="none" strike="noStrike" cap="none">
                <a:solidFill>
                  <a:srgbClr val="071828"/>
                </a:solidFill>
                <a:latin typeface="Poppins Black"/>
                <a:ea typeface="Poppins Black"/>
                <a:cs typeface="Poppins Black"/>
                <a:sym typeface="Poppins Black"/>
              </a:rPr>
              <a:t>IDEA-BUILDUP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101429" y="-2"/>
            <a:ext cx="1514758" cy="1514758"/>
          </a:xfrm>
          <a:custGeom>
            <a:avLst/>
            <a:gdLst/>
            <a:ahLst/>
            <a:cxnLst/>
            <a:rect l="l" t="t" r="r" b="b"/>
            <a:pathLst>
              <a:path w="1514758" h="1514758" extrusionOk="0">
                <a:moveTo>
                  <a:pt x="0" y="0"/>
                </a:moveTo>
                <a:lnTo>
                  <a:pt x="1514758" y="0"/>
                </a:lnTo>
                <a:lnTo>
                  <a:pt x="1514758" y="1514759"/>
                </a:lnTo>
                <a:lnTo>
                  <a:pt x="0" y="15147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16"/>
          <p:cNvSpPr/>
          <p:nvPr/>
        </p:nvSpPr>
        <p:spPr>
          <a:xfrm>
            <a:off x="14921164" y="256966"/>
            <a:ext cx="2965379" cy="1000815"/>
          </a:xfrm>
          <a:custGeom>
            <a:avLst/>
            <a:gdLst/>
            <a:ahLst/>
            <a:cxnLst/>
            <a:rect l="l" t="t" r="r" b="b"/>
            <a:pathLst>
              <a:path w="2965379" h="1000815" extrusionOk="0">
                <a:moveTo>
                  <a:pt x="0" y="0"/>
                </a:moveTo>
                <a:lnTo>
                  <a:pt x="2965379" y="0"/>
                </a:lnTo>
                <a:lnTo>
                  <a:pt x="2965379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5" name="Google Shape;175;p16"/>
          <p:cNvGrpSpPr/>
          <p:nvPr/>
        </p:nvGrpSpPr>
        <p:grpSpPr>
          <a:xfrm rot="-5400000">
            <a:off x="16452367" y="7789079"/>
            <a:ext cx="3174300" cy="571668"/>
            <a:chOff x="14208714" y="9245854"/>
            <a:chExt cx="3174300" cy="571668"/>
          </a:xfrm>
        </p:grpSpPr>
        <p:sp>
          <p:nvSpPr>
            <p:cNvPr id="176" name="Google Shape;176;p16"/>
            <p:cNvSpPr/>
            <p:nvPr/>
          </p:nvSpPr>
          <p:spPr>
            <a:xfrm>
              <a:off x="16687632" y="9245854"/>
              <a:ext cx="571668" cy="571668"/>
            </a:xfrm>
            <a:custGeom>
              <a:avLst/>
              <a:gdLst/>
              <a:ahLst/>
              <a:cxnLst/>
              <a:rect l="l" t="t" r="r" b="b"/>
              <a:pathLst>
                <a:path w="571668" h="571668" extrusionOk="0">
                  <a:moveTo>
                    <a:pt x="0" y="0"/>
                  </a:moveTo>
                  <a:lnTo>
                    <a:pt x="571668" y="0"/>
                  </a:lnTo>
                  <a:lnTo>
                    <a:pt x="571668" y="571668"/>
                  </a:lnTo>
                  <a:lnTo>
                    <a:pt x="0" y="5716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7" name="Google Shape;177;p16"/>
            <p:cNvSpPr txBox="1"/>
            <p:nvPr/>
          </p:nvSpPr>
          <p:spPr>
            <a:xfrm>
              <a:off x="14208714" y="9437785"/>
              <a:ext cx="31743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0" b="1" i="0" u="none" strike="noStrike" cap="none">
                  <a:solidFill>
                    <a:srgbClr val="D5434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SparkUp Summit 2026</a:t>
              </a: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74B9594-2A4B-747F-20F9-671A2AF7563A}"/>
              </a:ext>
            </a:extLst>
          </p:cNvPr>
          <p:cNvSpPr txBox="1"/>
          <p:nvPr/>
        </p:nvSpPr>
        <p:spPr>
          <a:xfrm>
            <a:off x="1192220" y="3900295"/>
            <a:ext cx="491120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India’s 70 lakh artisans earn Rs. 180 on products worth Rs. 4,500. The market urgently needs: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Fair, transparent pricing</a:t>
            </a:r>
            <a:r>
              <a:rPr lang="en-GB" sz="2000" dirty="0"/>
              <a:t> for artisans.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Authentic product verification</a:t>
            </a:r>
            <a:r>
              <a:rPr lang="en-GB" sz="2000" dirty="0"/>
              <a:t> — Rs. 32,000 Cr lost to fakes yearly.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Design ownership protection</a:t>
            </a:r>
            <a:r>
              <a:rPr lang="en-GB" sz="2000" dirty="0"/>
              <a:t> from fast fashion theft.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Digital access</a:t>
            </a:r>
            <a:r>
              <a:rPr lang="en-GB" sz="2000" dirty="0"/>
              <a:t> for rural artisans with zero online presence.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Cultural preservation</a:t>
            </a:r>
            <a:r>
              <a:rPr lang="en-GB" sz="2000" dirty="0"/>
              <a:t> — India loses 3-5 craft forms every year.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i="1" dirty="0"/>
              <a:t>Global market opportunity: $32 Billion in authentic handicrafts.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098B0A-4070-EF1F-2E58-3153270F8B73}"/>
              </a:ext>
            </a:extLst>
          </p:cNvPr>
          <p:cNvSpPr txBox="1"/>
          <p:nvPr/>
        </p:nvSpPr>
        <p:spPr>
          <a:xfrm>
            <a:off x="6823095" y="3829714"/>
            <a:ext cx="476797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ARTISANS (Supply):</a:t>
            </a:r>
            <a:r>
              <a:rPr lang="en-IN" sz="2000" dirty="0"/>
              <a:t> * 70 lakh registered artisans across India.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Women doing 70% of craft </a:t>
            </a:r>
            <a:r>
              <a:rPr lang="en-IN" sz="2000" dirty="0" err="1"/>
              <a:t>labor</a:t>
            </a:r>
            <a:r>
              <a:rPr lang="en-IN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Rural clusters with zero digital presence.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BUYERS (Demand):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Urban Indians aged 25-45 seeking authentic decor.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NRI and global diaspora.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Corporate gifting buyers.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INSTITUTIONS (B2B):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Fashion brands needing trend data.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NGOs, Govt bodies, Design colleges.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4ECB2A-C16B-6BD9-6D93-FA3A0C225634}"/>
              </a:ext>
            </a:extLst>
          </p:cNvPr>
          <p:cNvSpPr txBox="1"/>
          <p:nvPr/>
        </p:nvSpPr>
        <p:spPr>
          <a:xfrm>
            <a:off x="12105415" y="3754609"/>
            <a:ext cx="476796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Existing platforms (Etsy, Amazon </a:t>
            </a:r>
            <a:r>
              <a:rPr lang="en-IN" sz="2000" dirty="0" err="1"/>
              <a:t>Karigar</a:t>
            </a:r>
            <a:r>
              <a:rPr lang="en-IN" sz="2000" dirty="0"/>
              <a:t>) fall short: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Charge 15-30% hidden fees vs our </a:t>
            </a:r>
            <a:r>
              <a:rPr lang="en-IN" sz="2000" b="1" dirty="0"/>
              <a:t>3.5% flat fee</a:t>
            </a:r>
            <a:r>
              <a:rPr lang="en-I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Self-declared "handmade" — </a:t>
            </a:r>
            <a:r>
              <a:rPr lang="en-IN" sz="2000" b="1" dirty="0"/>
              <a:t>zero authenticity check</a:t>
            </a:r>
            <a:r>
              <a:rPr lang="en-I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No design protection for artisans.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English-only — </a:t>
            </a:r>
            <a:r>
              <a:rPr lang="en-IN" sz="2000" b="1" dirty="0"/>
              <a:t>excludes 80% of rural artisans</a:t>
            </a:r>
            <a:r>
              <a:rPr lang="en-I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Payments held 14-21 days vs our </a:t>
            </a:r>
            <a:r>
              <a:rPr lang="en-IN" sz="2000" b="1" dirty="0"/>
              <a:t>instant payout</a:t>
            </a:r>
            <a:r>
              <a:rPr lang="en-I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i="1" dirty="0"/>
              <a:t>No competitor combines marketplace + IP protection + AI pricing + cultural preservation.</a:t>
            </a:r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11" b="-15111"/>
            </a:stretch>
          </a:blipFill>
          <a:ln>
            <a:noFill/>
          </a:ln>
        </p:spPr>
      </p:sp>
      <p:grpSp>
        <p:nvGrpSpPr>
          <p:cNvPr id="183" name="Google Shape;183;p17"/>
          <p:cNvGrpSpPr/>
          <p:nvPr/>
        </p:nvGrpSpPr>
        <p:grpSpPr>
          <a:xfrm>
            <a:off x="1028700" y="1517900"/>
            <a:ext cx="16230600" cy="5416115"/>
            <a:chOff x="0" y="-38100"/>
            <a:chExt cx="4449552" cy="1484806"/>
          </a:xfrm>
        </p:grpSpPr>
        <p:sp>
          <p:nvSpPr>
            <p:cNvPr id="184" name="Google Shape;184;p17"/>
            <p:cNvSpPr/>
            <p:nvPr/>
          </p:nvSpPr>
          <p:spPr>
            <a:xfrm>
              <a:off x="0" y="0"/>
              <a:ext cx="4449552" cy="1446706"/>
            </a:xfrm>
            <a:custGeom>
              <a:avLst/>
              <a:gdLst/>
              <a:ahLst/>
              <a:cxnLst/>
              <a:rect l="l" t="t" r="r" b="b"/>
              <a:pathLst>
                <a:path w="4449552" h="1446706" extrusionOk="0">
                  <a:moveTo>
                    <a:pt x="24327" y="0"/>
                  </a:moveTo>
                  <a:lnTo>
                    <a:pt x="4425225" y="0"/>
                  </a:lnTo>
                  <a:cubicBezTo>
                    <a:pt x="4431677" y="0"/>
                    <a:pt x="4437865" y="2563"/>
                    <a:pt x="4442427" y="7125"/>
                  </a:cubicBezTo>
                  <a:cubicBezTo>
                    <a:pt x="4446989" y="11687"/>
                    <a:pt x="4449552" y="17875"/>
                    <a:pt x="4449552" y="24327"/>
                  </a:cubicBezTo>
                  <a:lnTo>
                    <a:pt x="4449552" y="1422379"/>
                  </a:lnTo>
                  <a:cubicBezTo>
                    <a:pt x="4449552" y="1435814"/>
                    <a:pt x="4438660" y="1446706"/>
                    <a:pt x="4425225" y="1446706"/>
                  </a:cubicBezTo>
                  <a:lnTo>
                    <a:pt x="24327" y="1446706"/>
                  </a:lnTo>
                  <a:cubicBezTo>
                    <a:pt x="10891" y="1446706"/>
                    <a:pt x="0" y="1435814"/>
                    <a:pt x="0" y="142237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7"/>
            <p:cNvSpPr txBox="1"/>
            <p:nvPr/>
          </p:nvSpPr>
          <p:spPr>
            <a:xfrm>
              <a:off x="0" y="-38100"/>
              <a:ext cx="4449552" cy="1484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17"/>
          <p:cNvGrpSpPr/>
          <p:nvPr/>
        </p:nvGrpSpPr>
        <p:grpSpPr>
          <a:xfrm>
            <a:off x="1028700" y="6976013"/>
            <a:ext cx="16230600" cy="3035277"/>
            <a:chOff x="0" y="-38100"/>
            <a:chExt cx="4449552" cy="832109"/>
          </a:xfrm>
        </p:grpSpPr>
        <p:sp>
          <p:nvSpPr>
            <p:cNvPr id="187" name="Google Shape;187;p17"/>
            <p:cNvSpPr/>
            <p:nvPr/>
          </p:nvSpPr>
          <p:spPr>
            <a:xfrm>
              <a:off x="0" y="0"/>
              <a:ext cx="4449552" cy="794009"/>
            </a:xfrm>
            <a:custGeom>
              <a:avLst/>
              <a:gdLst/>
              <a:ahLst/>
              <a:cxnLst/>
              <a:rect l="l" t="t" r="r" b="b"/>
              <a:pathLst>
                <a:path w="4449552" h="794009" extrusionOk="0">
                  <a:moveTo>
                    <a:pt x="24327" y="0"/>
                  </a:moveTo>
                  <a:lnTo>
                    <a:pt x="4425225" y="0"/>
                  </a:lnTo>
                  <a:cubicBezTo>
                    <a:pt x="4431677" y="0"/>
                    <a:pt x="4437865" y="2563"/>
                    <a:pt x="4442427" y="7125"/>
                  </a:cubicBezTo>
                  <a:cubicBezTo>
                    <a:pt x="4446989" y="11687"/>
                    <a:pt x="4449552" y="17875"/>
                    <a:pt x="4449552" y="24327"/>
                  </a:cubicBezTo>
                  <a:lnTo>
                    <a:pt x="4449552" y="769682"/>
                  </a:lnTo>
                  <a:cubicBezTo>
                    <a:pt x="4449552" y="783117"/>
                    <a:pt x="4438660" y="794009"/>
                    <a:pt x="4425225" y="794009"/>
                  </a:cubicBezTo>
                  <a:lnTo>
                    <a:pt x="24327" y="794009"/>
                  </a:lnTo>
                  <a:cubicBezTo>
                    <a:pt x="10891" y="794009"/>
                    <a:pt x="0" y="783117"/>
                    <a:pt x="0" y="76968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7"/>
            <p:cNvSpPr txBox="1"/>
            <p:nvPr/>
          </p:nvSpPr>
          <p:spPr>
            <a:xfrm>
              <a:off x="0" y="-38100"/>
              <a:ext cx="4449552" cy="8321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17"/>
          <p:cNvSpPr/>
          <p:nvPr/>
        </p:nvSpPr>
        <p:spPr>
          <a:xfrm>
            <a:off x="2757712" y="812100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90" name="Google Shape;190;p17"/>
          <p:cNvCxnSpPr/>
          <p:nvPr/>
        </p:nvCxnSpPr>
        <p:spPr>
          <a:xfrm>
            <a:off x="1112179" y="2087082"/>
            <a:ext cx="16000765" cy="0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7"/>
          <p:cNvSpPr txBox="1"/>
          <p:nvPr/>
        </p:nvSpPr>
        <p:spPr>
          <a:xfrm>
            <a:off x="3551550" y="500026"/>
            <a:ext cx="111849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51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PLAN &amp; REVENUE MODEL</a:t>
            </a:r>
            <a:endParaRPr dirty="0"/>
          </a:p>
        </p:txBody>
      </p:sp>
      <p:sp>
        <p:nvSpPr>
          <p:cNvPr id="196" name="Google Shape;196;p17"/>
          <p:cNvSpPr/>
          <p:nvPr/>
        </p:nvSpPr>
        <p:spPr>
          <a:xfrm>
            <a:off x="16020188" y="8820805"/>
            <a:ext cx="549207" cy="549207"/>
          </a:xfrm>
          <a:custGeom>
            <a:avLst/>
            <a:gdLst/>
            <a:ahLst/>
            <a:cxnLst/>
            <a:rect l="l" t="t" r="r" b="b"/>
            <a:pathLst>
              <a:path w="549207" h="549207" extrusionOk="0">
                <a:moveTo>
                  <a:pt x="0" y="0"/>
                </a:moveTo>
                <a:lnTo>
                  <a:pt x="549207" y="0"/>
                </a:lnTo>
                <a:lnTo>
                  <a:pt x="549207" y="549206"/>
                </a:lnTo>
                <a:lnTo>
                  <a:pt x="0" y="549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7" name="Google Shape;197;p17"/>
          <p:cNvSpPr txBox="1"/>
          <p:nvPr/>
        </p:nvSpPr>
        <p:spPr>
          <a:xfrm>
            <a:off x="1263478" y="2076627"/>
            <a:ext cx="508443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D54344"/>
                </a:solidFill>
                <a:latin typeface="Poppins"/>
                <a:ea typeface="Poppins"/>
                <a:cs typeface="Poppins"/>
                <a:sym typeface="Poppins"/>
              </a:rPr>
              <a:t>Branding Strategies</a:t>
            </a:r>
            <a:endParaRPr sz="3200" dirty="0"/>
          </a:p>
        </p:txBody>
      </p:sp>
      <p:sp>
        <p:nvSpPr>
          <p:cNvPr id="198" name="Google Shape;198;p17"/>
          <p:cNvSpPr txBox="1"/>
          <p:nvPr/>
        </p:nvSpPr>
        <p:spPr>
          <a:xfrm>
            <a:off x="6878543" y="2019582"/>
            <a:ext cx="47679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D54344"/>
                </a:solidFill>
                <a:latin typeface="Poppins"/>
                <a:ea typeface="Poppins"/>
                <a:cs typeface="Poppins"/>
                <a:sym typeface="Poppins"/>
              </a:rPr>
              <a:t>Pricing Strategies</a:t>
            </a:r>
            <a:endParaRPr sz="3200" dirty="0"/>
          </a:p>
        </p:txBody>
      </p:sp>
      <p:sp>
        <p:nvSpPr>
          <p:cNvPr id="199" name="Google Shape;199;p17"/>
          <p:cNvSpPr txBox="1"/>
          <p:nvPr/>
        </p:nvSpPr>
        <p:spPr>
          <a:xfrm>
            <a:off x="1362006" y="7134040"/>
            <a:ext cx="47679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D54344"/>
                </a:solidFill>
                <a:latin typeface="Poppins"/>
                <a:ea typeface="Poppins"/>
                <a:cs typeface="Poppins"/>
                <a:sym typeface="Poppins"/>
              </a:rPr>
              <a:t>Associated Risks</a:t>
            </a:r>
            <a:endParaRPr sz="3200" dirty="0"/>
          </a:p>
        </p:txBody>
      </p:sp>
      <p:sp>
        <p:nvSpPr>
          <p:cNvPr id="200" name="Google Shape;200;p17"/>
          <p:cNvSpPr txBox="1"/>
          <p:nvPr/>
        </p:nvSpPr>
        <p:spPr>
          <a:xfrm>
            <a:off x="12510076" y="2033750"/>
            <a:ext cx="47679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D54344"/>
                </a:solidFill>
                <a:latin typeface="Poppins"/>
                <a:ea typeface="Poppins"/>
                <a:cs typeface="Poppins"/>
                <a:sym typeface="Poppins"/>
              </a:rPr>
              <a:t>Scaling Plans</a:t>
            </a:r>
            <a:endParaRPr sz="3200" dirty="0"/>
          </a:p>
        </p:txBody>
      </p:sp>
      <p:cxnSp>
        <p:nvCxnSpPr>
          <p:cNvPr id="201" name="Google Shape;201;p17"/>
          <p:cNvCxnSpPr/>
          <p:nvPr/>
        </p:nvCxnSpPr>
        <p:spPr>
          <a:xfrm>
            <a:off x="6567057" y="2095799"/>
            <a:ext cx="0" cy="4838216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2" name="Google Shape;202;p17"/>
          <p:cNvCxnSpPr/>
          <p:nvPr/>
        </p:nvCxnSpPr>
        <p:spPr>
          <a:xfrm>
            <a:off x="11868428" y="2087082"/>
            <a:ext cx="0" cy="4838216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3" name="Google Shape;203;p17"/>
          <p:cNvSpPr txBox="1"/>
          <p:nvPr/>
        </p:nvSpPr>
        <p:spPr>
          <a:xfrm rot="-5400000">
            <a:off x="-3136247" y="5172900"/>
            <a:ext cx="7190400" cy="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0" b="1" i="0" u="none" strike="noStrike" cap="none">
                <a:solidFill>
                  <a:srgbClr val="071828"/>
                </a:solidFill>
                <a:latin typeface="Poppins Black"/>
                <a:ea typeface="Poppins Black"/>
                <a:cs typeface="Poppins Black"/>
                <a:sym typeface="Poppins Black"/>
              </a:rPr>
              <a:t>IDEA-BUILDUP</a:t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130639" y="87161"/>
            <a:ext cx="1514758" cy="1514758"/>
          </a:xfrm>
          <a:custGeom>
            <a:avLst/>
            <a:gdLst/>
            <a:ahLst/>
            <a:cxnLst/>
            <a:rect l="l" t="t" r="r" b="b"/>
            <a:pathLst>
              <a:path w="1514758" h="1514758" extrusionOk="0">
                <a:moveTo>
                  <a:pt x="0" y="0"/>
                </a:moveTo>
                <a:lnTo>
                  <a:pt x="1514758" y="0"/>
                </a:lnTo>
                <a:lnTo>
                  <a:pt x="1514758" y="1514759"/>
                </a:lnTo>
                <a:lnTo>
                  <a:pt x="0" y="15147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5" name="Google Shape;205;p17"/>
          <p:cNvSpPr/>
          <p:nvPr/>
        </p:nvSpPr>
        <p:spPr>
          <a:xfrm>
            <a:off x="14822483" y="404509"/>
            <a:ext cx="2965379" cy="1000815"/>
          </a:xfrm>
          <a:custGeom>
            <a:avLst/>
            <a:gdLst/>
            <a:ahLst/>
            <a:cxnLst/>
            <a:rect l="l" t="t" r="r" b="b"/>
            <a:pathLst>
              <a:path w="2965379" h="1000815" extrusionOk="0">
                <a:moveTo>
                  <a:pt x="0" y="0"/>
                </a:moveTo>
                <a:lnTo>
                  <a:pt x="2965379" y="0"/>
                </a:lnTo>
                <a:lnTo>
                  <a:pt x="2965379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06" name="Google Shape;206;p17"/>
          <p:cNvGrpSpPr/>
          <p:nvPr/>
        </p:nvGrpSpPr>
        <p:grpSpPr>
          <a:xfrm rot="-5400000">
            <a:off x="16452367" y="7789079"/>
            <a:ext cx="3174300" cy="571668"/>
            <a:chOff x="14208714" y="9245854"/>
            <a:chExt cx="3174300" cy="571668"/>
          </a:xfrm>
        </p:grpSpPr>
        <p:sp>
          <p:nvSpPr>
            <p:cNvPr id="207" name="Google Shape;207;p17"/>
            <p:cNvSpPr/>
            <p:nvPr/>
          </p:nvSpPr>
          <p:spPr>
            <a:xfrm>
              <a:off x="16687632" y="9245854"/>
              <a:ext cx="571668" cy="571668"/>
            </a:xfrm>
            <a:custGeom>
              <a:avLst/>
              <a:gdLst/>
              <a:ahLst/>
              <a:cxnLst/>
              <a:rect l="l" t="t" r="r" b="b"/>
              <a:pathLst>
                <a:path w="571668" h="571668" extrusionOk="0">
                  <a:moveTo>
                    <a:pt x="0" y="0"/>
                  </a:moveTo>
                  <a:lnTo>
                    <a:pt x="571668" y="0"/>
                  </a:lnTo>
                  <a:lnTo>
                    <a:pt x="571668" y="571668"/>
                  </a:lnTo>
                  <a:lnTo>
                    <a:pt x="0" y="5716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8" name="Google Shape;208;p17"/>
            <p:cNvSpPr txBox="1"/>
            <p:nvPr/>
          </p:nvSpPr>
          <p:spPr>
            <a:xfrm>
              <a:off x="14208714" y="9437785"/>
              <a:ext cx="31743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0" b="1" i="0" u="none" strike="noStrike" cap="none">
                  <a:solidFill>
                    <a:srgbClr val="D5434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SparkUp Summit 2026</a:t>
              </a: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8A37520-6F43-9348-2B05-FE1AD225CAE5}"/>
              </a:ext>
            </a:extLst>
          </p:cNvPr>
          <p:cNvSpPr txBox="1"/>
          <p:nvPr/>
        </p:nvSpPr>
        <p:spPr>
          <a:xfrm>
            <a:off x="1156927" y="2834108"/>
            <a:ext cx="540371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Every product shows artisan's face + village + 30-sec creation video — buyers buy a story, not a product.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TruthMark</a:t>
            </a:r>
            <a:r>
              <a:rPr lang="en-IN" sz="2000" dirty="0"/>
              <a:t> QR scan experience goes viral on social media — free organic marketing.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'Last Living Master' badge creates exclusivity around endangered crafts.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WhatsApp word-of-mouth — artisans bring other artisans.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Corporate CSR partnerships with Tata, Infosys build instant credibility.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29407A-53A3-9C7F-F010-C2D88CD3F863}"/>
              </a:ext>
            </a:extLst>
          </p:cNvPr>
          <p:cNvSpPr txBox="1"/>
          <p:nvPr/>
        </p:nvSpPr>
        <p:spPr>
          <a:xfrm>
            <a:off x="6570059" y="2861586"/>
            <a:ext cx="529194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Core:</a:t>
            </a:r>
            <a:r>
              <a:rPr lang="en-IN" sz="2000" dirty="0"/>
              <a:t> 3.5% flat fee per sale (vs 15-30% competitors).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Price Predict AI:</a:t>
            </a:r>
            <a:r>
              <a:rPr lang="en-IN" sz="2000" dirty="0"/>
              <a:t> Free / Rs.149 / Rs.499 per month.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/>
              <a:t>CraftMark</a:t>
            </a:r>
            <a:r>
              <a:rPr lang="en-IN" sz="2000" b="1" dirty="0"/>
              <a:t> IP Shield:</a:t>
            </a:r>
            <a:r>
              <a:rPr lang="en-IN" sz="2000" dirty="0"/>
              <a:t> Free / Rs.99 / Rs.299 per month.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/>
              <a:t>Hastkala</a:t>
            </a:r>
            <a:r>
              <a:rPr lang="en-IN" sz="2000" b="1" dirty="0"/>
              <a:t> Pro SaaS:</a:t>
            </a:r>
            <a:r>
              <a:rPr lang="en-IN" sz="2000" dirty="0"/>
              <a:t> Rs.199-499 per month.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B2B Trend Data:</a:t>
            </a:r>
            <a:r>
              <a:rPr lang="en-IN" sz="2000" dirty="0"/>
              <a:t> Rs.5-50L per year per brand.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CSR Sponsorships:</a:t>
            </a:r>
            <a:r>
              <a:rPr lang="en-IN" sz="2000" dirty="0"/>
              <a:t> Rs.10-50L per deal.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i="1" dirty="0"/>
              <a:t>Year 1 Target: Rs.1.85 Cr | Year 3: Rs.21.2 Cr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B433C-9A72-E389-1473-B83621398763}"/>
              </a:ext>
            </a:extLst>
          </p:cNvPr>
          <p:cNvSpPr txBox="1"/>
          <p:nvPr/>
        </p:nvSpPr>
        <p:spPr>
          <a:xfrm>
            <a:off x="11968818" y="2836063"/>
            <a:ext cx="511084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Phase 1 (0-6 Months):</a:t>
            </a:r>
            <a:r>
              <a:rPr lang="en-GB" sz="2000" dirty="0"/>
              <a:t> Pilot in 5 GI-tagged clusters. Onboard 500 master artisans. Achieve 0% counterfeit rate.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Phase 2 (6-18 Months):</a:t>
            </a:r>
            <a:r>
              <a:rPr lang="en-GB" sz="2000" dirty="0"/>
              <a:t> Full ONDC integration. Expand to 50+ clusters across 15 states. Launch IP Shield and Price AI commercially.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Phase 3 (18+ Months):</a:t>
            </a:r>
            <a:r>
              <a:rPr lang="en-GB" sz="2000" dirty="0"/>
              <a:t> Global expansion. UNESCO archive partnership. Target 10 lakh artisans onboarded.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800CA7-DDE9-64A7-0F56-7162127FE6B2}"/>
              </a:ext>
            </a:extLst>
          </p:cNvPr>
          <p:cNvSpPr txBox="1"/>
          <p:nvPr/>
        </p:nvSpPr>
        <p:spPr>
          <a:xfrm>
            <a:off x="1112179" y="8029683"/>
            <a:ext cx="127203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</a:rPr>
              <a:t>Artisan onboarding in rural areas:</a:t>
            </a:r>
            <a:r>
              <a:rPr lang="en-IN" sz="2000" dirty="0">
                <a:effectLst/>
              </a:rPr>
              <a:t> Partner with existing SHGs, NGOs and govt craft bodies on the ground.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</a:rPr>
              <a:t>Blockchain complexity for rural users:</a:t>
            </a:r>
            <a:r>
              <a:rPr lang="en-IN" sz="2000" dirty="0">
                <a:effectLst/>
              </a:rPr>
              <a:t> WhatsApp-first interface — all tech is invisible to the artisan.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</a:rPr>
              <a:t>RBI/UIDAI compliance for biometrics:</a:t>
            </a:r>
            <a:r>
              <a:rPr lang="en-IN" sz="2000" dirty="0">
                <a:effectLst/>
              </a:rPr>
              <a:t> </a:t>
            </a:r>
            <a:r>
              <a:rPr lang="en-IN" sz="2000" dirty="0" err="1">
                <a:effectLst/>
              </a:rPr>
              <a:t>Razorpay</a:t>
            </a:r>
            <a:r>
              <a:rPr lang="en-IN" sz="2000" dirty="0">
                <a:effectLst/>
              </a:rPr>
              <a:t> + UPI as primary layer — biometrics as optional add-on.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</a:rPr>
              <a:t>Platform crawlers getting blocked:</a:t>
            </a:r>
            <a:r>
              <a:rPr lang="en-IN" sz="2000" dirty="0">
                <a:effectLst/>
              </a:rPr>
              <a:t> </a:t>
            </a:r>
            <a:r>
              <a:rPr lang="en-IN" sz="2000" dirty="0" err="1">
                <a:effectLst/>
              </a:rPr>
              <a:t>pHash</a:t>
            </a:r>
            <a:r>
              <a:rPr lang="en-IN" sz="2000" dirty="0">
                <a:effectLst/>
              </a:rPr>
              <a:t> database + user-reported theft as primary detection method.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4470A4CD-A177-A5FE-83C8-D13B2CC43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>
            <a:extLst>
              <a:ext uri="{FF2B5EF4-FFF2-40B4-BE49-F238E27FC236}">
                <a16:creationId xmlns:a16="http://schemas.microsoft.com/office/drawing/2014/main" id="{8D35E514-EBFE-848C-B39B-0D44F38478BF}"/>
              </a:ext>
            </a:extLst>
          </p:cNvPr>
          <p:cNvSpPr/>
          <p:nvPr/>
        </p:nvSpPr>
        <p:spPr>
          <a:xfrm>
            <a:off x="-91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11" b="-15111"/>
            </a:stretch>
          </a:blipFill>
          <a:ln>
            <a:noFill/>
          </a:ln>
        </p:spPr>
      </p:sp>
      <p:grpSp>
        <p:nvGrpSpPr>
          <p:cNvPr id="214" name="Google Shape;214;p18">
            <a:extLst>
              <a:ext uri="{FF2B5EF4-FFF2-40B4-BE49-F238E27FC236}">
                <a16:creationId xmlns:a16="http://schemas.microsoft.com/office/drawing/2014/main" id="{5E5F11AC-1393-B6EB-CB01-90BE14EF4DB1}"/>
              </a:ext>
            </a:extLst>
          </p:cNvPr>
          <p:cNvGrpSpPr/>
          <p:nvPr/>
        </p:nvGrpSpPr>
        <p:grpSpPr>
          <a:xfrm>
            <a:off x="1028700" y="1677434"/>
            <a:ext cx="16459890" cy="8252031"/>
            <a:chOff x="0" y="-38100"/>
            <a:chExt cx="4335115" cy="2108601"/>
          </a:xfrm>
        </p:grpSpPr>
        <p:sp>
          <p:nvSpPr>
            <p:cNvPr id="215" name="Google Shape;215;p18">
              <a:extLst>
                <a:ext uri="{FF2B5EF4-FFF2-40B4-BE49-F238E27FC236}">
                  <a16:creationId xmlns:a16="http://schemas.microsoft.com/office/drawing/2014/main" id="{5204DC37-12A4-8648-5D3E-36CF545A4965}"/>
                </a:ext>
              </a:extLst>
            </p:cNvPr>
            <p:cNvSpPr/>
            <p:nvPr/>
          </p:nvSpPr>
          <p:spPr>
            <a:xfrm>
              <a:off x="0" y="0"/>
              <a:ext cx="4335115" cy="2070501"/>
            </a:xfrm>
            <a:custGeom>
              <a:avLst/>
              <a:gdLst/>
              <a:ahLst/>
              <a:cxnLst/>
              <a:rect l="l" t="t" r="r" b="b"/>
              <a:pathLst>
                <a:path w="4335115" h="2070501" extrusionOk="0">
                  <a:moveTo>
                    <a:pt x="23988" y="0"/>
                  </a:moveTo>
                  <a:lnTo>
                    <a:pt x="4311127" y="0"/>
                  </a:lnTo>
                  <a:cubicBezTo>
                    <a:pt x="4317489" y="0"/>
                    <a:pt x="4323591" y="2527"/>
                    <a:pt x="4328089" y="7026"/>
                  </a:cubicBezTo>
                  <a:cubicBezTo>
                    <a:pt x="4332588" y="11524"/>
                    <a:pt x="4335115" y="17626"/>
                    <a:pt x="4335115" y="23988"/>
                  </a:cubicBezTo>
                  <a:lnTo>
                    <a:pt x="4335115" y="2046513"/>
                  </a:lnTo>
                  <a:cubicBezTo>
                    <a:pt x="4335115" y="2059761"/>
                    <a:pt x="4324376" y="2070501"/>
                    <a:pt x="4311127" y="2070501"/>
                  </a:cubicBezTo>
                  <a:lnTo>
                    <a:pt x="23988" y="2070501"/>
                  </a:lnTo>
                  <a:cubicBezTo>
                    <a:pt x="17626" y="2070501"/>
                    <a:pt x="11524" y="2067974"/>
                    <a:pt x="7026" y="2063475"/>
                  </a:cubicBezTo>
                  <a:cubicBezTo>
                    <a:pt x="2527" y="2058976"/>
                    <a:pt x="0" y="2052875"/>
                    <a:pt x="0" y="2046513"/>
                  </a:cubicBezTo>
                  <a:lnTo>
                    <a:pt x="0" y="23988"/>
                  </a:lnTo>
                  <a:cubicBezTo>
                    <a:pt x="0" y="17626"/>
                    <a:pt x="2527" y="11524"/>
                    <a:pt x="7026" y="7026"/>
                  </a:cubicBezTo>
                  <a:cubicBezTo>
                    <a:pt x="11524" y="2527"/>
                    <a:pt x="17626" y="0"/>
                    <a:pt x="23988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8">
              <a:extLst>
                <a:ext uri="{FF2B5EF4-FFF2-40B4-BE49-F238E27FC236}">
                  <a16:creationId xmlns:a16="http://schemas.microsoft.com/office/drawing/2014/main" id="{140E8FDB-DD80-D43E-1C3E-B9E5D95C7ADA}"/>
                </a:ext>
              </a:extLst>
            </p:cNvPr>
            <p:cNvSpPr txBox="1"/>
            <p:nvPr/>
          </p:nvSpPr>
          <p:spPr>
            <a:xfrm>
              <a:off x="0" y="-38100"/>
              <a:ext cx="4335115" cy="2108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7" name="Google Shape;217;p18">
            <a:extLst>
              <a:ext uri="{FF2B5EF4-FFF2-40B4-BE49-F238E27FC236}">
                <a16:creationId xmlns:a16="http://schemas.microsoft.com/office/drawing/2014/main" id="{64023293-371C-A81D-797F-D89DF8208E60}"/>
              </a:ext>
            </a:extLst>
          </p:cNvPr>
          <p:cNvCxnSpPr/>
          <p:nvPr/>
        </p:nvCxnSpPr>
        <p:spPr>
          <a:xfrm>
            <a:off x="1068368" y="2005420"/>
            <a:ext cx="16400765" cy="0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Google Shape;218;p18">
            <a:extLst>
              <a:ext uri="{FF2B5EF4-FFF2-40B4-BE49-F238E27FC236}">
                <a16:creationId xmlns:a16="http://schemas.microsoft.com/office/drawing/2014/main" id="{C35EAC18-A26F-2C37-2EFC-4FB24798E4CD}"/>
              </a:ext>
            </a:extLst>
          </p:cNvPr>
          <p:cNvSpPr/>
          <p:nvPr/>
        </p:nvSpPr>
        <p:spPr>
          <a:xfrm>
            <a:off x="16247239" y="8266304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9" name="Google Shape;219;p18">
            <a:extLst>
              <a:ext uri="{FF2B5EF4-FFF2-40B4-BE49-F238E27FC236}">
                <a16:creationId xmlns:a16="http://schemas.microsoft.com/office/drawing/2014/main" id="{687D8224-CC44-E6BE-744E-F852991D6D00}"/>
              </a:ext>
            </a:extLst>
          </p:cNvPr>
          <p:cNvSpPr txBox="1"/>
          <p:nvPr/>
        </p:nvSpPr>
        <p:spPr>
          <a:xfrm>
            <a:off x="4043822" y="-235193"/>
            <a:ext cx="10746521" cy="230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61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FEASIBILITY, VIABILITY AND FUTURE IMPROVEMENTS</a:t>
            </a:r>
            <a:endParaRPr dirty="0"/>
          </a:p>
        </p:txBody>
      </p:sp>
      <p:sp>
        <p:nvSpPr>
          <p:cNvPr id="220" name="Google Shape;220;p18">
            <a:extLst>
              <a:ext uri="{FF2B5EF4-FFF2-40B4-BE49-F238E27FC236}">
                <a16:creationId xmlns:a16="http://schemas.microsoft.com/office/drawing/2014/main" id="{A5769103-BB5D-E435-83FB-3E40562F713B}"/>
              </a:ext>
            </a:extLst>
          </p:cNvPr>
          <p:cNvSpPr/>
          <p:nvPr/>
        </p:nvSpPr>
        <p:spPr>
          <a:xfrm>
            <a:off x="3757988" y="702336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9" y="0"/>
                </a:lnTo>
                <a:lnTo>
                  <a:pt x="571669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1" name="Google Shape;221;p18">
            <a:extLst>
              <a:ext uri="{FF2B5EF4-FFF2-40B4-BE49-F238E27FC236}">
                <a16:creationId xmlns:a16="http://schemas.microsoft.com/office/drawing/2014/main" id="{0C761E4D-81B7-115C-143D-FBCB3E9C9D99}"/>
              </a:ext>
            </a:extLst>
          </p:cNvPr>
          <p:cNvSpPr txBox="1"/>
          <p:nvPr/>
        </p:nvSpPr>
        <p:spPr>
          <a:xfrm rot="-5400000">
            <a:off x="-3086909" y="5197569"/>
            <a:ext cx="7190400" cy="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0" b="1" i="0" u="none" strike="noStrike" cap="none">
                <a:solidFill>
                  <a:srgbClr val="071828"/>
                </a:solidFill>
                <a:latin typeface="Poppins Black"/>
                <a:ea typeface="Poppins Black"/>
                <a:cs typeface="Poppins Black"/>
                <a:sym typeface="Poppins Black"/>
              </a:rPr>
              <a:t>IDEA-BUILDUP</a:t>
            </a:r>
            <a:endParaRPr/>
          </a:p>
        </p:txBody>
      </p:sp>
      <p:sp>
        <p:nvSpPr>
          <p:cNvPr id="222" name="Google Shape;222;p18">
            <a:extLst>
              <a:ext uri="{FF2B5EF4-FFF2-40B4-BE49-F238E27FC236}">
                <a16:creationId xmlns:a16="http://schemas.microsoft.com/office/drawing/2014/main" id="{AC39BF0B-EBC9-27DB-EC90-207235D47053}"/>
              </a:ext>
            </a:extLst>
          </p:cNvPr>
          <p:cNvSpPr/>
          <p:nvPr/>
        </p:nvSpPr>
        <p:spPr>
          <a:xfrm>
            <a:off x="304364" y="271321"/>
            <a:ext cx="1514758" cy="1514758"/>
          </a:xfrm>
          <a:custGeom>
            <a:avLst/>
            <a:gdLst/>
            <a:ahLst/>
            <a:cxnLst/>
            <a:rect l="l" t="t" r="r" b="b"/>
            <a:pathLst>
              <a:path w="1514758" h="1514758" extrusionOk="0">
                <a:moveTo>
                  <a:pt x="0" y="0"/>
                </a:moveTo>
                <a:lnTo>
                  <a:pt x="1514758" y="0"/>
                </a:lnTo>
                <a:lnTo>
                  <a:pt x="1514758" y="1514758"/>
                </a:lnTo>
                <a:lnTo>
                  <a:pt x="0" y="1514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3" name="Google Shape;223;p18">
            <a:extLst>
              <a:ext uri="{FF2B5EF4-FFF2-40B4-BE49-F238E27FC236}">
                <a16:creationId xmlns:a16="http://schemas.microsoft.com/office/drawing/2014/main" id="{13357490-B28A-12D6-862D-99CC1C7E3ABC}"/>
              </a:ext>
            </a:extLst>
          </p:cNvPr>
          <p:cNvSpPr/>
          <p:nvPr/>
        </p:nvSpPr>
        <p:spPr>
          <a:xfrm>
            <a:off x="14797814" y="478516"/>
            <a:ext cx="2965379" cy="1000815"/>
          </a:xfrm>
          <a:custGeom>
            <a:avLst/>
            <a:gdLst/>
            <a:ahLst/>
            <a:cxnLst/>
            <a:rect l="l" t="t" r="r" b="b"/>
            <a:pathLst>
              <a:path w="2965379" h="1000815" extrusionOk="0">
                <a:moveTo>
                  <a:pt x="0" y="0"/>
                </a:moveTo>
                <a:lnTo>
                  <a:pt x="2965379" y="0"/>
                </a:lnTo>
                <a:lnTo>
                  <a:pt x="2965379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26" name="Google Shape;226;p18">
            <a:extLst>
              <a:ext uri="{FF2B5EF4-FFF2-40B4-BE49-F238E27FC236}">
                <a16:creationId xmlns:a16="http://schemas.microsoft.com/office/drawing/2014/main" id="{E11F45E8-3503-B0AF-8583-E60ED8C144EC}"/>
              </a:ext>
            </a:extLst>
          </p:cNvPr>
          <p:cNvGrpSpPr/>
          <p:nvPr/>
        </p:nvGrpSpPr>
        <p:grpSpPr>
          <a:xfrm rot="-5400000">
            <a:off x="16452367" y="7789079"/>
            <a:ext cx="3174300" cy="571668"/>
            <a:chOff x="14208714" y="9245854"/>
            <a:chExt cx="3174300" cy="571668"/>
          </a:xfrm>
        </p:grpSpPr>
        <p:sp>
          <p:nvSpPr>
            <p:cNvPr id="227" name="Google Shape;227;p18">
              <a:extLst>
                <a:ext uri="{FF2B5EF4-FFF2-40B4-BE49-F238E27FC236}">
                  <a16:creationId xmlns:a16="http://schemas.microsoft.com/office/drawing/2014/main" id="{90CEBF6E-3AE6-6D99-BFA9-6B43B8355188}"/>
                </a:ext>
              </a:extLst>
            </p:cNvPr>
            <p:cNvSpPr/>
            <p:nvPr/>
          </p:nvSpPr>
          <p:spPr>
            <a:xfrm>
              <a:off x="16687632" y="9245854"/>
              <a:ext cx="571668" cy="571668"/>
            </a:xfrm>
            <a:custGeom>
              <a:avLst/>
              <a:gdLst/>
              <a:ahLst/>
              <a:cxnLst/>
              <a:rect l="l" t="t" r="r" b="b"/>
              <a:pathLst>
                <a:path w="571668" h="571668" extrusionOk="0">
                  <a:moveTo>
                    <a:pt x="0" y="0"/>
                  </a:moveTo>
                  <a:lnTo>
                    <a:pt x="571668" y="0"/>
                  </a:lnTo>
                  <a:lnTo>
                    <a:pt x="571668" y="571668"/>
                  </a:lnTo>
                  <a:lnTo>
                    <a:pt x="0" y="5716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28" name="Google Shape;228;p18">
              <a:extLst>
                <a:ext uri="{FF2B5EF4-FFF2-40B4-BE49-F238E27FC236}">
                  <a16:creationId xmlns:a16="http://schemas.microsoft.com/office/drawing/2014/main" id="{DA3143C3-FBAD-5933-971D-508BD3E4FBFD}"/>
                </a:ext>
              </a:extLst>
            </p:cNvPr>
            <p:cNvSpPr txBox="1"/>
            <p:nvPr/>
          </p:nvSpPr>
          <p:spPr>
            <a:xfrm>
              <a:off x="14208714" y="9437785"/>
              <a:ext cx="31743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0" b="1" i="0" u="none" strike="noStrike" cap="none">
                  <a:solidFill>
                    <a:srgbClr val="D5434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SparkUp Summit 2026</a:t>
              </a:r>
              <a:endParaRPr/>
            </a:p>
          </p:txBody>
        </p:sp>
      </p:grpSp>
      <p:cxnSp>
        <p:nvCxnSpPr>
          <p:cNvPr id="3" name="Google Shape;171;p16">
            <a:extLst>
              <a:ext uri="{FF2B5EF4-FFF2-40B4-BE49-F238E27FC236}">
                <a16:creationId xmlns:a16="http://schemas.microsoft.com/office/drawing/2014/main" id="{6BB3031F-71AE-EB33-3634-4EEB5CECD78B}"/>
              </a:ext>
            </a:extLst>
          </p:cNvPr>
          <p:cNvCxnSpPr>
            <a:cxnSpLocks/>
          </p:cNvCxnSpPr>
          <p:nvPr/>
        </p:nvCxnSpPr>
        <p:spPr>
          <a:xfrm>
            <a:off x="9611924" y="2005420"/>
            <a:ext cx="0" cy="7924045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CFDA721-AF3F-615F-8B90-2BBCED3D7BE6}"/>
              </a:ext>
            </a:extLst>
          </p:cNvPr>
          <p:cNvSpPr/>
          <p:nvPr/>
        </p:nvSpPr>
        <p:spPr>
          <a:xfrm>
            <a:off x="1334215" y="2284291"/>
            <a:ext cx="8085775" cy="366254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endParaRPr lang="en-IN" sz="2000" b="1" dirty="0"/>
          </a:p>
          <a:p>
            <a:r>
              <a:rPr lang="en-IN" sz="2000" b="1" dirty="0"/>
              <a:t>🛡️ </a:t>
            </a:r>
            <a:r>
              <a:rPr lang="en-IN" sz="3200" b="1" u="sng" dirty="0">
                <a:latin typeface="Poppins" panose="00000500000000000000" pitchFamily="2" charset="0"/>
                <a:cs typeface="Poppins" panose="00000500000000000000" pitchFamily="2" charset="0"/>
              </a:rPr>
              <a:t>Feasibility</a:t>
            </a:r>
            <a:br>
              <a:rPr lang="en-IN" sz="2000" b="1" dirty="0"/>
            </a:br>
            <a:endParaRPr lang="en-IN" sz="2000" b="1" dirty="0"/>
          </a:p>
          <a:p>
            <a:r>
              <a:rPr lang="en-IN" sz="2000" b="1" dirty="0"/>
              <a:t>1. Low-Data Stack:</a:t>
            </a:r>
            <a:r>
              <a:rPr lang="en-IN" sz="2000" dirty="0"/>
              <a:t> Uses </a:t>
            </a:r>
            <a:r>
              <a:rPr lang="en-IN" sz="2000" b="1" dirty="0"/>
              <a:t>Node.js</a:t>
            </a:r>
            <a:r>
              <a:rPr lang="en-IN" sz="2000" dirty="0"/>
              <a:t> and </a:t>
            </a:r>
            <a:r>
              <a:rPr lang="en-IN" sz="2000" b="1" dirty="0"/>
              <a:t>React Native</a:t>
            </a:r>
            <a:r>
              <a:rPr lang="en-IN" sz="2000" dirty="0"/>
              <a:t>; optimized as a </a:t>
            </a:r>
            <a:r>
              <a:rPr lang="en-IN" sz="2000" b="1" dirty="0"/>
              <a:t>PWA</a:t>
            </a:r>
            <a:r>
              <a:rPr lang="en-IN" sz="2000" dirty="0"/>
              <a:t> for 2G/3G rural connectivity.</a:t>
            </a:r>
          </a:p>
          <a:p>
            <a:r>
              <a:rPr lang="en-IN" sz="2000" b="1" dirty="0"/>
              <a:t>2. Resilient Infrastructure:</a:t>
            </a:r>
            <a:r>
              <a:rPr lang="en-IN" sz="2000" dirty="0"/>
              <a:t> Secure media storage via </a:t>
            </a:r>
            <a:r>
              <a:rPr lang="en-IN" sz="2000" b="1" dirty="0"/>
              <a:t>IPFS</a:t>
            </a:r>
            <a:r>
              <a:rPr lang="en-IN" sz="2000" dirty="0"/>
              <a:t> and real-time artisan alerts through </a:t>
            </a:r>
            <a:r>
              <a:rPr lang="en-IN" sz="2000" b="1" dirty="0"/>
              <a:t>WhatsApp Cloud API</a:t>
            </a:r>
            <a:r>
              <a:rPr lang="en-IN" sz="2000" dirty="0"/>
              <a:t>.</a:t>
            </a:r>
          </a:p>
          <a:p>
            <a:r>
              <a:rPr lang="en-IN" sz="2000" b="1" dirty="0"/>
              <a:t>3. Zero-Barrier UX:</a:t>
            </a:r>
            <a:r>
              <a:rPr lang="en-IN" sz="2000" dirty="0"/>
              <a:t> Removes literacy hurdles with </a:t>
            </a:r>
            <a:r>
              <a:rPr lang="en-IN" sz="2000" b="1" dirty="0"/>
              <a:t>Voice-First AI</a:t>
            </a:r>
            <a:r>
              <a:rPr lang="en-IN" sz="2000" dirty="0"/>
              <a:t> and </a:t>
            </a:r>
            <a:r>
              <a:rPr lang="en-IN" sz="2000" b="1" dirty="0"/>
              <a:t>QR-based navigation</a:t>
            </a:r>
            <a:r>
              <a:rPr lang="en-IN" sz="2000" dirty="0"/>
              <a:t>.</a:t>
            </a:r>
          </a:p>
          <a:p>
            <a:r>
              <a:rPr lang="en-IN" sz="2000" b="1" dirty="0"/>
              <a:t>4. </a:t>
            </a:r>
            <a:r>
              <a:rPr lang="en-IN" sz="2000" b="1" dirty="0" err="1"/>
              <a:t>TruthMark</a:t>
            </a:r>
            <a:r>
              <a:rPr lang="en-IN" sz="2000" b="1" dirty="0"/>
              <a:t> Automation:</a:t>
            </a:r>
            <a:r>
              <a:rPr lang="en-IN" sz="2000" dirty="0"/>
              <a:t> Instant blockchain authentication in </a:t>
            </a:r>
            <a:r>
              <a:rPr lang="en-IN" sz="2000" b="1" dirty="0"/>
              <a:t>&lt;60 seconds</a:t>
            </a:r>
            <a:r>
              <a:rPr lang="en-IN" sz="2000" dirty="0"/>
              <a:t> via tamper-proof QR stickers.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1EDB7E-7436-55CF-65C0-D19C559A1478}"/>
              </a:ext>
            </a:extLst>
          </p:cNvPr>
          <p:cNvSpPr/>
          <p:nvPr/>
        </p:nvSpPr>
        <p:spPr>
          <a:xfrm>
            <a:off x="1331310" y="5987292"/>
            <a:ext cx="8085773" cy="366254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GB" sz="2000" b="1" dirty="0"/>
              <a:t>📈 </a:t>
            </a:r>
            <a:r>
              <a:rPr lang="en-GB" sz="3200" b="1" u="sng" dirty="0">
                <a:latin typeface="Poppins" panose="00000500000000000000" pitchFamily="2" charset="0"/>
                <a:cs typeface="Poppins" panose="00000500000000000000" pitchFamily="2" charset="0"/>
              </a:rPr>
              <a:t>Viability</a:t>
            </a:r>
          </a:p>
          <a:p>
            <a:endParaRPr lang="en-GB" sz="2000" b="1" dirty="0"/>
          </a:p>
          <a:p>
            <a:r>
              <a:rPr lang="en-GB" sz="2000" b="1" dirty="0"/>
              <a:t>1. 750% Revenue Jump:</a:t>
            </a:r>
            <a:r>
              <a:rPr lang="en-GB" sz="2000" dirty="0"/>
              <a:t> Replaces 80% middleman cuts with a transparent </a:t>
            </a:r>
            <a:r>
              <a:rPr lang="en-GB" sz="2000" b="1" dirty="0"/>
              <a:t>3–5% platform fee</a:t>
            </a:r>
            <a:r>
              <a:rPr lang="en-GB" sz="2000" dirty="0"/>
              <a:t>.</a:t>
            </a:r>
          </a:p>
          <a:p>
            <a:r>
              <a:rPr lang="en-GB" sz="2000" b="1" dirty="0"/>
              <a:t>2. Verified Luxury Market:</a:t>
            </a:r>
            <a:r>
              <a:rPr lang="en-GB" sz="2000" dirty="0"/>
              <a:t> Converts crafts into authenticated assets, tapping into a </a:t>
            </a:r>
            <a:r>
              <a:rPr lang="en-GB" sz="2000" b="1" dirty="0"/>
              <a:t>$32B global opportunity</a:t>
            </a:r>
            <a:r>
              <a:rPr lang="en-GB" sz="2000" dirty="0"/>
              <a:t>.</a:t>
            </a:r>
          </a:p>
          <a:p>
            <a:r>
              <a:rPr lang="en-GB" sz="2000" b="1" dirty="0"/>
              <a:t>3. Instant Capital Unlock:</a:t>
            </a:r>
            <a:r>
              <a:rPr lang="en-GB" sz="2000" dirty="0"/>
              <a:t> AI matches artisans to Govt. schemes, accessing </a:t>
            </a:r>
            <a:r>
              <a:rPr lang="en-GB" sz="2000" b="1" dirty="0"/>
              <a:t>₹3.5L+ in unclaimed benefits</a:t>
            </a:r>
            <a:r>
              <a:rPr lang="en-GB" sz="2000" dirty="0"/>
              <a:t>.</a:t>
            </a:r>
          </a:p>
          <a:p>
            <a:r>
              <a:rPr lang="en-GB" sz="2000" b="1" dirty="0"/>
              <a:t>4. Modular Scalability:</a:t>
            </a:r>
            <a:r>
              <a:rPr lang="en-GB" sz="2000" dirty="0"/>
              <a:t> One "Stack" adaptable across </a:t>
            </a:r>
            <a:r>
              <a:rPr lang="en-GB" sz="2000" b="1" dirty="0"/>
              <a:t>2,000+ craft clusters</a:t>
            </a:r>
            <a:r>
              <a:rPr lang="en-GB" sz="2000" dirty="0"/>
              <a:t> with zero re-architecture.</a:t>
            </a:r>
          </a:p>
          <a:p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497E00-C1AF-5A09-722A-12505E02E2A2}"/>
              </a:ext>
            </a:extLst>
          </p:cNvPr>
          <p:cNvSpPr txBox="1"/>
          <p:nvPr/>
        </p:nvSpPr>
        <p:spPr>
          <a:xfrm>
            <a:off x="9803859" y="2320275"/>
            <a:ext cx="7149922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i="0" dirty="0">
                <a:effectLst/>
                <a:latin typeface="+mj-lt"/>
              </a:rPr>
              <a:t>Initial Proof of Concept: Launch a pilot in 5 high-value GI-tagged clusters (like Pashmina and </a:t>
            </a:r>
            <a:r>
              <a:rPr lang="en-US" sz="2000" i="0" dirty="0" err="1">
                <a:effectLst/>
                <a:latin typeface="+mj-lt"/>
              </a:rPr>
              <a:t>Kanjeevaram</a:t>
            </a:r>
            <a:r>
              <a:rPr lang="en-US" sz="2000" i="0" dirty="0">
                <a:effectLst/>
                <a:latin typeface="+mj-lt"/>
              </a:rPr>
              <a:t> Silk) to onboard 500 master artisans and establish a 0% counterfeit rate within those zones.</a:t>
            </a:r>
          </a:p>
          <a:p>
            <a:pPr marL="457200" indent="-4572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i="0" dirty="0">
                <a:effectLst/>
                <a:latin typeface="+mj-lt"/>
              </a:rPr>
              <a:t>ONDC Integration: Fully integrate the platform's Node.js backend with the Open Network for Digital Commerce (ONDC) protocol to significantly increase market reach and transaction volume.</a:t>
            </a:r>
          </a:p>
          <a:p>
            <a:pPr marL="457200" indent="-4572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i="0" dirty="0">
                <a:effectLst/>
                <a:latin typeface="+mj-lt"/>
              </a:rPr>
              <a:t>End-to-End Logistics: Partner with third-party logistics (3PL) providers to create an automated shipping layer that tracks products directly from the artisan's village to the buyer.</a:t>
            </a:r>
          </a:p>
          <a:p>
            <a:pPr marL="457200" indent="-4572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i="0" dirty="0">
                <a:effectLst/>
                <a:latin typeface="+mj-lt"/>
              </a:rPr>
              <a:t>B2B Data Intelligence: Monetize the platform by selling anonymized, aggregated market trend insights (such as demand for specific dyes or patterns) to major global fashion houses.</a:t>
            </a:r>
          </a:p>
          <a:p>
            <a:pPr marL="457200" indent="-4572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+mj-lt"/>
              </a:rPr>
              <a:t>Looking to integrate </a:t>
            </a:r>
            <a:r>
              <a:rPr lang="en-US" sz="2000" i="0" dirty="0">
                <a:effectLst/>
                <a:latin typeface="+mj-lt"/>
              </a:rPr>
              <a:t>a system that supports AI predicted discou</a:t>
            </a:r>
            <a:r>
              <a:rPr lang="en-US" sz="2000" dirty="0">
                <a:latin typeface="+mj-lt"/>
              </a:rPr>
              <a:t>nts and customizations if the buyer is from same cultural background as the seller</a:t>
            </a:r>
            <a:r>
              <a:rPr lang="en-US" sz="2000" b="1" i="0" dirty="0">
                <a:effectLst/>
                <a:latin typeface="+mj-lt"/>
              </a:rPr>
              <a:t>.</a:t>
            </a:r>
          </a:p>
          <a:p>
            <a:pPr marL="457200" indent="-4572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+mj-lt"/>
              </a:rPr>
              <a:t>WhatsApp navigation and Voice-first AI integration.</a:t>
            </a:r>
            <a:endParaRPr lang="en-US" sz="200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98510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11" b="-15111"/>
            </a:stretch>
          </a:blipFill>
          <a:ln>
            <a:noFill/>
          </a:ln>
        </p:spPr>
      </p:sp>
      <p:grpSp>
        <p:nvGrpSpPr>
          <p:cNvPr id="214" name="Google Shape;214;p18"/>
          <p:cNvGrpSpPr/>
          <p:nvPr/>
        </p:nvGrpSpPr>
        <p:grpSpPr>
          <a:xfrm>
            <a:off x="1028700" y="1923371"/>
            <a:ext cx="16459890" cy="8006094"/>
            <a:chOff x="0" y="-38100"/>
            <a:chExt cx="4335115" cy="2108601"/>
          </a:xfrm>
        </p:grpSpPr>
        <p:sp>
          <p:nvSpPr>
            <p:cNvPr id="215" name="Google Shape;215;p18"/>
            <p:cNvSpPr/>
            <p:nvPr/>
          </p:nvSpPr>
          <p:spPr>
            <a:xfrm>
              <a:off x="0" y="0"/>
              <a:ext cx="4335115" cy="2070501"/>
            </a:xfrm>
            <a:custGeom>
              <a:avLst/>
              <a:gdLst/>
              <a:ahLst/>
              <a:cxnLst/>
              <a:rect l="l" t="t" r="r" b="b"/>
              <a:pathLst>
                <a:path w="4335115" h="2070501" extrusionOk="0">
                  <a:moveTo>
                    <a:pt x="23988" y="0"/>
                  </a:moveTo>
                  <a:lnTo>
                    <a:pt x="4311127" y="0"/>
                  </a:lnTo>
                  <a:cubicBezTo>
                    <a:pt x="4317489" y="0"/>
                    <a:pt x="4323591" y="2527"/>
                    <a:pt x="4328089" y="7026"/>
                  </a:cubicBezTo>
                  <a:cubicBezTo>
                    <a:pt x="4332588" y="11524"/>
                    <a:pt x="4335115" y="17626"/>
                    <a:pt x="4335115" y="23988"/>
                  </a:cubicBezTo>
                  <a:lnTo>
                    <a:pt x="4335115" y="2046513"/>
                  </a:lnTo>
                  <a:cubicBezTo>
                    <a:pt x="4335115" y="2059761"/>
                    <a:pt x="4324376" y="2070501"/>
                    <a:pt x="4311127" y="2070501"/>
                  </a:cubicBezTo>
                  <a:lnTo>
                    <a:pt x="23988" y="2070501"/>
                  </a:lnTo>
                  <a:cubicBezTo>
                    <a:pt x="17626" y="2070501"/>
                    <a:pt x="11524" y="2067974"/>
                    <a:pt x="7026" y="2063475"/>
                  </a:cubicBezTo>
                  <a:cubicBezTo>
                    <a:pt x="2527" y="2058976"/>
                    <a:pt x="0" y="2052875"/>
                    <a:pt x="0" y="2046513"/>
                  </a:cubicBezTo>
                  <a:lnTo>
                    <a:pt x="0" y="23988"/>
                  </a:lnTo>
                  <a:cubicBezTo>
                    <a:pt x="0" y="17626"/>
                    <a:pt x="2527" y="11524"/>
                    <a:pt x="7026" y="7026"/>
                  </a:cubicBezTo>
                  <a:cubicBezTo>
                    <a:pt x="11524" y="2527"/>
                    <a:pt x="17626" y="0"/>
                    <a:pt x="23988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8"/>
            <p:cNvSpPr txBox="1"/>
            <p:nvPr/>
          </p:nvSpPr>
          <p:spPr>
            <a:xfrm>
              <a:off x="0" y="-38100"/>
              <a:ext cx="4335115" cy="2108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7" name="Google Shape;217;p18"/>
          <p:cNvCxnSpPr/>
          <p:nvPr/>
        </p:nvCxnSpPr>
        <p:spPr>
          <a:xfrm>
            <a:off x="1068368" y="2279740"/>
            <a:ext cx="16400765" cy="0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8" name="Google Shape;218;p18"/>
          <p:cNvSpPr/>
          <p:nvPr/>
        </p:nvSpPr>
        <p:spPr>
          <a:xfrm>
            <a:off x="16247239" y="8266304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9" name="Google Shape;219;p18"/>
          <p:cNvSpPr txBox="1"/>
          <p:nvPr/>
        </p:nvSpPr>
        <p:spPr>
          <a:xfrm>
            <a:off x="6277892" y="1139134"/>
            <a:ext cx="57321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61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 FLOW</a:t>
            </a:r>
            <a:endParaRPr dirty="0"/>
          </a:p>
        </p:txBody>
      </p:sp>
      <p:sp>
        <p:nvSpPr>
          <p:cNvPr id="220" name="Google Shape;220;p18"/>
          <p:cNvSpPr/>
          <p:nvPr/>
        </p:nvSpPr>
        <p:spPr>
          <a:xfrm>
            <a:off x="6133794" y="1462385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9" y="0"/>
                </a:lnTo>
                <a:lnTo>
                  <a:pt x="571669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1" name="Google Shape;221;p18"/>
          <p:cNvSpPr txBox="1"/>
          <p:nvPr/>
        </p:nvSpPr>
        <p:spPr>
          <a:xfrm rot="-5400000">
            <a:off x="-3086909" y="5197569"/>
            <a:ext cx="7190400" cy="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0" b="1" i="0" u="none" strike="noStrike" cap="none">
                <a:solidFill>
                  <a:srgbClr val="071828"/>
                </a:solidFill>
                <a:latin typeface="Poppins Black"/>
                <a:ea typeface="Poppins Black"/>
                <a:cs typeface="Poppins Black"/>
                <a:sym typeface="Poppins Black"/>
              </a:rPr>
              <a:t>IDEA-BUILDUP</a:t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304364" y="271321"/>
            <a:ext cx="1514758" cy="1514758"/>
          </a:xfrm>
          <a:custGeom>
            <a:avLst/>
            <a:gdLst/>
            <a:ahLst/>
            <a:cxnLst/>
            <a:rect l="l" t="t" r="r" b="b"/>
            <a:pathLst>
              <a:path w="1514758" h="1514758" extrusionOk="0">
                <a:moveTo>
                  <a:pt x="0" y="0"/>
                </a:moveTo>
                <a:lnTo>
                  <a:pt x="1514758" y="0"/>
                </a:lnTo>
                <a:lnTo>
                  <a:pt x="1514758" y="1514758"/>
                </a:lnTo>
                <a:lnTo>
                  <a:pt x="0" y="1514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3" name="Google Shape;223;p18"/>
          <p:cNvSpPr/>
          <p:nvPr/>
        </p:nvSpPr>
        <p:spPr>
          <a:xfrm>
            <a:off x="14797814" y="478516"/>
            <a:ext cx="2965379" cy="1000815"/>
          </a:xfrm>
          <a:custGeom>
            <a:avLst/>
            <a:gdLst/>
            <a:ahLst/>
            <a:cxnLst/>
            <a:rect l="l" t="t" r="r" b="b"/>
            <a:pathLst>
              <a:path w="2965379" h="1000815" extrusionOk="0">
                <a:moveTo>
                  <a:pt x="0" y="0"/>
                </a:moveTo>
                <a:lnTo>
                  <a:pt x="2965379" y="0"/>
                </a:lnTo>
                <a:lnTo>
                  <a:pt x="2965379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4" name="Google Shape;224;p18"/>
          <p:cNvSpPr txBox="1"/>
          <p:nvPr/>
        </p:nvSpPr>
        <p:spPr>
          <a:xfrm>
            <a:off x="11679542" y="2284291"/>
            <a:ext cx="4016428" cy="1678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51" b="1" i="0" u="none" strike="noStrike" cap="none" dirty="0">
                <a:solidFill>
                  <a:srgbClr val="D54344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dirty="0"/>
          </a:p>
          <a:p>
            <a:pPr marL="0" marR="0" lvl="0" indent="0" algn="l" rtl="0">
              <a:lnSpc>
                <a:spcPct val="10799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51" b="1" i="0" u="none" strike="noStrike" cap="none" dirty="0">
              <a:solidFill>
                <a:srgbClr val="D543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18"/>
          <p:cNvGrpSpPr/>
          <p:nvPr/>
        </p:nvGrpSpPr>
        <p:grpSpPr>
          <a:xfrm rot="-5400000">
            <a:off x="16452367" y="7789079"/>
            <a:ext cx="3174300" cy="571668"/>
            <a:chOff x="14208714" y="9245854"/>
            <a:chExt cx="3174300" cy="571668"/>
          </a:xfrm>
        </p:grpSpPr>
        <p:sp>
          <p:nvSpPr>
            <p:cNvPr id="227" name="Google Shape;227;p18"/>
            <p:cNvSpPr/>
            <p:nvPr/>
          </p:nvSpPr>
          <p:spPr>
            <a:xfrm>
              <a:off x="16687632" y="9245854"/>
              <a:ext cx="571668" cy="571668"/>
            </a:xfrm>
            <a:custGeom>
              <a:avLst/>
              <a:gdLst/>
              <a:ahLst/>
              <a:cxnLst/>
              <a:rect l="l" t="t" r="r" b="b"/>
              <a:pathLst>
                <a:path w="571668" h="571668" extrusionOk="0">
                  <a:moveTo>
                    <a:pt x="0" y="0"/>
                  </a:moveTo>
                  <a:lnTo>
                    <a:pt x="571668" y="0"/>
                  </a:lnTo>
                  <a:lnTo>
                    <a:pt x="571668" y="571668"/>
                  </a:lnTo>
                  <a:lnTo>
                    <a:pt x="0" y="5716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28" name="Google Shape;228;p18"/>
            <p:cNvSpPr txBox="1"/>
            <p:nvPr/>
          </p:nvSpPr>
          <p:spPr>
            <a:xfrm>
              <a:off x="14208714" y="9437785"/>
              <a:ext cx="31743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0" b="1" i="0" u="none" strike="noStrike" cap="none">
                  <a:solidFill>
                    <a:srgbClr val="D5434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SparkUp Summit 2026</a:t>
              </a:r>
              <a:endParaRPr/>
            </a:p>
          </p:txBody>
        </p:sp>
      </p:grpSp>
      <p:sp>
        <p:nvSpPr>
          <p:cNvPr id="2" name="Google Shape;224;p18">
            <a:extLst>
              <a:ext uri="{FF2B5EF4-FFF2-40B4-BE49-F238E27FC236}">
                <a16:creationId xmlns:a16="http://schemas.microsoft.com/office/drawing/2014/main" id="{E0925F01-5EB5-B768-168A-E55EE6AC6786}"/>
              </a:ext>
            </a:extLst>
          </p:cNvPr>
          <p:cNvSpPr txBox="1"/>
          <p:nvPr/>
        </p:nvSpPr>
        <p:spPr>
          <a:xfrm>
            <a:off x="2201246" y="2299057"/>
            <a:ext cx="6043102" cy="1678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51" b="1" i="0" u="none" strike="noStrike" cap="none" dirty="0">
                <a:solidFill>
                  <a:srgbClr val="D54344"/>
                </a:solidFill>
                <a:latin typeface="Arial"/>
                <a:ea typeface="Arial"/>
                <a:cs typeface="Arial"/>
                <a:sym typeface="Arial"/>
              </a:rPr>
              <a:t>TECHSTACK USED</a:t>
            </a:r>
            <a:endParaRPr dirty="0"/>
          </a:p>
          <a:p>
            <a:pPr marL="0" marR="0" lvl="0" indent="0" algn="l" rtl="0">
              <a:lnSpc>
                <a:spcPct val="10799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51" b="1" i="0" u="none" strike="noStrike" cap="none" dirty="0">
              <a:solidFill>
                <a:srgbClr val="D543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171;p16">
            <a:extLst>
              <a:ext uri="{FF2B5EF4-FFF2-40B4-BE49-F238E27FC236}">
                <a16:creationId xmlns:a16="http://schemas.microsoft.com/office/drawing/2014/main" id="{FAA433B3-C9EF-7EAC-6BA5-B7C3C51031B9}"/>
              </a:ext>
            </a:extLst>
          </p:cNvPr>
          <p:cNvCxnSpPr>
            <a:cxnSpLocks/>
          </p:cNvCxnSpPr>
          <p:nvPr/>
        </p:nvCxnSpPr>
        <p:spPr>
          <a:xfrm>
            <a:off x="9611924" y="2299057"/>
            <a:ext cx="0" cy="7630408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48B7722-9A6D-64A4-6803-4554141D65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585" y="2925214"/>
            <a:ext cx="8083242" cy="6976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DF39D5-4ECC-B1EF-3993-EE4E651BBE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3851" y="2925213"/>
            <a:ext cx="7455444" cy="68832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11" b="-15111"/>
            </a:stretch>
          </a:blipFill>
          <a:ln>
            <a:noFill/>
          </a:ln>
        </p:spPr>
      </p:sp>
      <p:grpSp>
        <p:nvGrpSpPr>
          <p:cNvPr id="234" name="Google Shape;234;p19"/>
          <p:cNvGrpSpPr/>
          <p:nvPr/>
        </p:nvGrpSpPr>
        <p:grpSpPr>
          <a:xfrm>
            <a:off x="1028700" y="1923371"/>
            <a:ext cx="16459890" cy="8006094"/>
            <a:chOff x="0" y="-38100"/>
            <a:chExt cx="4335115" cy="2108601"/>
          </a:xfrm>
        </p:grpSpPr>
        <p:sp>
          <p:nvSpPr>
            <p:cNvPr id="235" name="Google Shape;235;p19"/>
            <p:cNvSpPr/>
            <p:nvPr/>
          </p:nvSpPr>
          <p:spPr>
            <a:xfrm>
              <a:off x="0" y="0"/>
              <a:ext cx="4335115" cy="2070501"/>
            </a:xfrm>
            <a:custGeom>
              <a:avLst/>
              <a:gdLst/>
              <a:ahLst/>
              <a:cxnLst/>
              <a:rect l="l" t="t" r="r" b="b"/>
              <a:pathLst>
                <a:path w="4335115" h="2070501" extrusionOk="0">
                  <a:moveTo>
                    <a:pt x="23988" y="0"/>
                  </a:moveTo>
                  <a:lnTo>
                    <a:pt x="4311127" y="0"/>
                  </a:lnTo>
                  <a:cubicBezTo>
                    <a:pt x="4317489" y="0"/>
                    <a:pt x="4323591" y="2527"/>
                    <a:pt x="4328089" y="7026"/>
                  </a:cubicBezTo>
                  <a:cubicBezTo>
                    <a:pt x="4332588" y="11524"/>
                    <a:pt x="4335115" y="17626"/>
                    <a:pt x="4335115" y="23988"/>
                  </a:cubicBezTo>
                  <a:lnTo>
                    <a:pt x="4335115" y="2046513"/>
                  </a:lnTo>
                  <a:cubicBezTo>
                    <a:pt x="4335115" y="2059761"/>
                    <a:pt x="4324376" y="2070501"/>
                    <a:pt x="4311127" y="2070501"/>
                  </a:cubicBezTo>
                  <a:lnTo>
                    <a:pt x="23988" y="2070501"/>
                  </a:lnTo>
                  <a:cubicBezTo>
                    <a:pt x="17626" y="2070501"/>
                    <a:pt x="11524" y="2067974"/>
                    <a:pt x="7026" y="2063475"/>
                  </a:cubicBezTo>
                  <a:cubicBezTo>
                    <a:pt x="2527" y="2058976"/>
                    <a:pt x="0" y="2052875"/>
                    <a:pt x="0" y="2046513"/>
                  </a:cubicBezTo>
                  <a:lnTo>
                    <a:pt x="0" y="23988"/>
                  </a:lnTo>
                  <a:cubicBezTo>
                    <a:pt x="0" y="17626"/>
                    <a:pt x="2527" y="11524"/>
                    <a:pt x="7026" y="7026"/>
                  </a:cubicBezTo>
                  <a:cubicBezTo>
                    <a:pt x="11524" y="2527"/>
                    <a:pt x="17626" y="0"/>
                    <a:pt x="23988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9"/>
            <p:cNvSpPr txBox="1"/>
            <p:nvPr/>
          </p:nvSpPr>
          <p:spPr>
            <a:xfrm>
              <a:off x="0" y="-38100"/>
              <a:ext cx="4335115" cy="2108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7" name="Google Shape;237;p19"/>
          <p:cNvCxnSpPr/>
          <p:nvPr/>
        </p:nvCxnSpPr>
        <p:spPr>
          <a:xfrm>
            <a:off x="1068368" y="2559960"/>
            <a:ext cx="16420222" cy="0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8" name="Google Shape;238;p19"/>
          <p:cNvSpPr/>
          <p:nvPr/>
        </p:nvSpPr>
        <p:spPr>
          <a:xfrm>
            <a:off x="16247239" y="8266304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9" name="Google Shape;239;p19"/>
          <p:cNvSpPr txBox="1"/>
          <p:nvPr/>
        </p:nvSpPr>
        <p:spPr>
          <a:xfrm>
            <a:off x="4828840" y="1089796"/>
            <a:ext cx="9431278" cy="115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61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dirty="0"/>
          </a:p>
        </p:txBody>
      </p:sp>
      <p:sp>
        <p:nvSpPr>
          <p:cNvPr id="240" name="Google Shape;240;p19"/>
          <p:cNvSpPr/>
          <p:nvPr/>
        </p:nvSpPr>
        <p:spPr>
          <a:xfrm>
            <a:off x="6362128" y="1430333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1" name="Google Shape;241;p19"/>
          <p:cNvSpPr txBox="1"/>
          <p:nvPr/>
        </p:nvSpPr>
        <p:spPr>
          <a:xfrm rot="-5400000">
            <a:off x="-3105000" y="5172900"/>
            <a:ext cx="7190400" cy="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0" b="1" i="0" u="none" strike="noStrike" cap="none">
                <a:solidFill>
                  <a:srgbClr val="071828"/>
                </a:solidFill>
                <a:latin typeface="Poppins Black"/>
                <a:ea typeface="Poppins Black"/>
                <a:cs typeface="Poppins Black"/>
                <a:sym typeface="Poppins Black"/>
              </a:rPr>
              <a:t>IDEA-BUILDUP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304364" y="271321"/>
            <a:ext cx="1514758" cy="1514758"/>
          </a:xfrm>
          <a:custGeom>
            <a:avLst/>
            <a:gdLst/>
            <a:ahLst/>
            <a:cxnLst/>
            <a:rect l="l" t="t" r="r" b="b"/>
            <a:pathLst>
              <a:path w="1514758" h="1514758" extrusionOk="0">
                <a:moveTo>
                  <a:pt x="0" y="0"/>
                </a:moveTo>
                <a:lnTo>
                  <a:pt x="1514758" y="0"/>
                </a:lnTo>
                <a:lnTo>
                  <a:pt x="1514758" y="1514758"/>
                </a:lnTo>
                <a:lnTo>
                  <a:pt x="0" y="1514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3" name="Google Shape;243;p19"/>
          <p:cNvSpPr/>
          <p:nvPr/>
        </p:nvSpPr>
        <p:spPr>
          <a:xfrm>
            <a:off x="14797814" y="478516"/>
            <a:ext cx="2965379" cy="1000815"/>
          </a:xfrm>
          <a:custGeom>
            <a:avLst/>
            <a:gdLst/>
            <a:ahLst/>
            <a:cxnLst/>
            <a:rect l="l" t="t" r="r" b="b"/>
            <a:pathLst>
              <a:path w="2965379" h="1000815" extrusionOk="0">
                <a:moveTo>
                  <a:pt x="0" y="0"/>
                </a:moveTo>
                <a:lnTo>
                  <a:pt x="2965379" y="0"/>
                </a:lnTo>
                <a:lnTo>
                  <a:pt x="2965379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4" name="Google Shape;244;p19"/>
          <p:cNvSpPr txBox="1"/>
          <p:nvPr/>
        </p:nvSpPr>
        <p:spPr>
          <a:xfrm>
            <a:off x="6930836" y="2704622"/>
            <a:ext cx="4426328" cy="839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51" b="1" i="0" u="none" strike="noStrike" cap="none" dirty="0">
                <a:solidFill>
                  <a:srgbClr val="D54344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dirty="0"/>
          </a:p>
        </p:txBody>
      </p:sp>
      <p:sp>
        <p:nvSpPr>
          <p:cNvPr id="245" name="Google Shape;245;p19"/>
          <p:cNvSpPr txBox="1"/>
          <p:nvPr/>
        </p:nvSpPr>
        <p:spPr>
          <a:xfrm>
            <a:off x="1599709" y="3931126"/>
            <a:ext cx="15219198" cy="365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8000"/>
              </a:lnSpc>
            </a:pPr>
            <a:r>
              <a:rPr lang="en-US" sz="2000" b="1" dirty="0"/>
              <a:t>HASTKALA</a:t>
            </a:r>
            <a:r>
              <a:rPr lang="en-US" sz="2000" dirty="0"/>
              <a:t> is a next-generation social commerce ecosystem that transforms India’s artisan economy from fragmented survival to scalable economic sovereignty. By integrating the </a:t>
            </a:r>
            <a:r>
              <a:rPr lang="en-US" sz="2000" b="1" dirty="0" err="1"/>
              <a:t>PriceMirror</a:t>
            </a:r>
            <a:r>
              <a:rPr lang="en-US" sz="2000" b="1" dirty="0"/>
              <a:t> </a:t>
            </a:r>
            <a:r>
              <a:rPr lang="en-US" sz="2000" dirty="0"/>
              <a:t>smart payment engine, the platform eliminates exploitative middlemen and ensures instant, transparent income distribution directly to artisans. The </a:t>
            </a:r>
            <a:r>
              <a:rPr lang="en-US" sz="2000" b="1" dirty="0" err="1"/>
              <a:t>TruthMark</a:t>
            </a:r>
            <a:r>
              <a:rPr lang="en-US" sz="2000" dirty="0"/>
              <a:t> system establishes trust through tamper-proof digital identities, enabling buyers to verify authenticity via QR-based “</a:t>
            </a:r>
            <a:r>
              <a:rPr lang="en-US" sz="2000" b="1" dirty="0"/>
              <a:t>Digital Birth Certificates</a:t>
            </a:r>
            <a:r>
              <a:rPr lang="en-US" sz="2000" dirty="0"/>
              <a:t>”.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Beyond commerce, HASTKALA empowers artisans through </a:t>
            </a:r>
            <a:r>
              <a:rPr lang="en-US" sz="2000" b="1" dirty="0" err="1"/>
              <a:t>SchemeGPT</a:t>
            </a:r>
            <a:r>
              <a:rPr lang="en-US" sz="2000" dirty="0"/>
              <a:t>, a multilingual voice-AI that removes literacy barriers and unlocks access to critical government benefits, while the </a:t>
            </a:r>
            <a:r>
              <a:rPr lang="en-US" sz="2000" b="1" dirty="0" err="1"/>
              <a:t>CraftMark</a:t>
            </a:r>
            <a:r>
              <a:rPr lang="en-US" sz="2000" b="1" dirty="0"/>
              <a:t> IP </a:t>
            </a:r>
            <a:r>
              <a:rPr lang="en-US" sz="2000" dirty="0"/>
              <a:t>Shield safeguards cultural heritage by detecting and preventing global design theft in real time.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Together, this AI + Blockchain powered infrastructure bridges the trust deficit, profit leakage, and awareness gap—building a transparent, inclusive, and globally scalable marketplace where artisans don’t just survive, but thrive.</a:t>
            </a:r>
            <a:endParaRPr sz="2000" dirty="0"/>
          </a:p>
        </p:txBody>
      </p:sp>
      <p:grpSp>
        <p:nvGrpSpPr>
          <p:cNvPr id="248" name="Google Shape;248;p19"/>
          <p:cNvGrpSpPr/>
          <p:nvPr/>
        </p:nvGrpSpPr>
        <p:grpSpPr>
          <a:xfrm rot="-5400000">
            <a:off x="16452367" y="7789079"/>
            <a:ext cx="3174300" cy="571668"/>
            <a:chOff x="14208714" y="9245854"/>
            <a:chExt cx="3174300" cy="571668"/>
          </a:xfrm>
        </p:grpSpPr>
        <p:sp>
          <p:nvSpPr>
            <p:cNvPr id="249" name="Google Shape;249;p19"/>
            <p:cNvSpPr/>
            <p:nvPr/>
          </p:nvSpPr>
          <p:spPr>
            <a:xfrm>
              <a:off x="16687632" y="9245854"/>
              <a:ext cx="571668" cy="571668"/>
            </a:xfrm>
            <a:custGeom>
              <a:avLst/>
              <a:gdLst/>
              <a:ahLst/>
              <a:cxnLst/>
              <a:rect l="l" t="t" r="r" b="b"/>
              <a:pathLst>
                <a:path w="571668" h="571668" extrusionOk="0">
                  <a:moveTo>
                    <a:pt x="0" y="0"/>
                  </a:moveTo>
                  <a:lnTo>
                    <a:pt x="571668" y="0"/>
                  </a:lnTo>
                  <a:lnTo>
                    <a:pt x="571668" y="571668"/>
                  </a:lnTo>
                  <a:lnTo>
                    <a:pt x="0" y="5716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50" name="Google Shape;250;p19"/>
            <p:cNvSpPr txBox="1"/>
            <p:nvPr/>
          </p:nvSpPr>
          <p:spPr>
            <a:xfrm>
              <a:off x="14208714" y="9437785"/>
              <a:ext cx="31743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0" b="1" i="0" u="none" strike="noStrike" cap="none">
                  <a:solidFill>
                    <a:srgbClr val="D5434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SparkUp Summit 2026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33093774-8B4C-8F84-D8A1-548569504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>
            <a:extLst>
              <a:ext uri="{FF2B5EF4-FFF2-40B4-BE49-F238E27FC236}">
                <a16:creationId xmlns:a16="http://schemas.microsoft.com/office/drawing/2014/main" id="{44774382-6DBE-BF3B-AA49-77B6E343884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11" b="-15111"/>
            </a:stretch>
          </a:blipFill>
          <a:ln>
            <a:noFill/>
          </a:ln>
        </p:spPr>
      </p:sp>
      <p:grpSp>
        <p:nvGrpSpPr>
          <p:cNvPr id="234" name="Google Shape;234;p19">
            <a:extLst>
              <a:ext uri="{FF2B5EF4-FFF2-40B4-BE49-F238E27FC236}">
                <a16:creationId xmlns:a16="http://schemas.microsoft.com/office/drawing/2014/main" id="{BBF358C0-E384-F1C9-E046-46872484B2C0}"/>
              </a:ext>
            </a:extLst>
          </p:cNvPr>
          <p:cNvGrpSpPr/>
          <p:nvPr/>
        </p:nvGrpSpPr>
        <p:grpSpPr>
          <a:xfrm>
            <a:off x="1028700" y="1923371"/>
            <a:ext cx="16459890" cy="8006094"/>
            <a:chOff x="0" y="-38100"/>
            <a:chExt cx="4335115" cy="2108601"/>
          </a:xfrm>
        </p:grpSpPr>
        <p:sp>
          <p:nvSpPr>
            <p:cNvPr id="235" name="Google Shape;235;p19">
              <a:extLst>
                <a:ext uri="{FF2B5EF4-FFF2-40B4-BE49-F238E27FC236}">
                  <a16:creationId xmlns:a16="http://schemas.microsoft.com/office/drawing/2014/main" id="{9E1D3BF0-5313-176F-6C72-EFDE44F33A9C}"/>
                </a:ext>
              </a:extLst>
            </p:cNvPr>
            <p:cNvSpPr/>
            <p:nvPr/>
          </p:nvSpPr>
          <p:spPr>
            <a:xfrm>
              <a:off x="0" y="0"/>
              <a:ext cx="4335115" cy="2070501"/>
            </a:xfrm>
            <a:custGeom>
              <a:avLst/>
              <a:gdLst/>
              <a:ahLst/>
              <a:cxnLst/>
              <a:rect l="l" t="t" r="r" b="b"/>
              <a:pathLst>
                <a:path w="4335115" h="2070501" extrusionOk="0">
                  <a:moveTo>
                    <a:pt x="23988" y="0"/>
                  </a:moveTo>
                  <a:lnTo>
                    <a:pt x="4311127" y="0"/>
                  </a:lnTo>
                  <a:cubicBezTo>
                    <a:pt x="4317489" y="0"/>
                    <a:pt x="4323591" y="2527"/>
                    <a:pt x="4328089" y="7026"/>
                  </a:cubicBezTo>
                  <a:cubicBezTo>
                    <a:pt x="4332588" y="11524"/>
                    <a:pt x="4335115" y="17626"/>
                    <a:pt x="4335115" y="23988"/>
                  </a:cubicBezTo>
                  <a:lnTo>
                    <a:pt x="4335115" y="2046513"/>
                  </a:lnTo>
                  <a:cubicBezTo>
                    <a:pt x="4335115" y="2059761"/>
                    <a:pt x="4324376" y="2070501"/>
                    <a:pt x="4311127" y="2070501"/>
                  </a:cubicBezTo>
                  <a:lnTo>
                    <a:pt x="23988" y="2070501"/>
                  </a:lnTo>
                  <a:cubicBezTo>
                    <a:pt x="17626" y="2070501"/>
                    <a:pt x="11524" y="2067974"/>
                    <a:pt x="7026" y="2063475"/>
                  </a:cubicBezTo>
                  <a:cubicBezTo>
                    <a:pt x="2527" y="2058976"/>
                    <a:pt x="0" y="2052875"/>
                    <a:pt x="0" y="2046513"/>
                  </a:cubicBezTo>
                  <a:lnTo>
                    <a:pt x="0" y="23988"/>
                  </a:lnTo>
                  <a:cubicBezTo>
                    <a:pt x="0" y="17626"/>
                    <a:pt x="2527" y="11524"/>
                    <a:pt x="7026" y="7026"/>
                  </a:cubicBezTo>
                  <a:cubicBezTo>
                    <a:pt x="11524" y="2527"/>
                    <a:pt x="17626" y="0"/>
                    <a:pt x="23988" y="0"/>
                  </a:cubicBezTo>
                  <a:close/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9">
              <a:extLst>
                <a:ext uri="{FF2B5EF4-FFF2-40B4-BE49-F238E27FC236}">
                  <a16:creationId xmlns:a16="http://schemas.microsoft.com/office/drawing/2014/main" id="{4C697BA6-5548-818E-B0C5-708D4C7B64BD}"/>
                </a:ext>
              </a:extLst>
            </p:cNvPr>
            <p:cNvSpPr txBox="1"/>
            <p:nvPr/>
          </p:nvSpPr>
          <p:spPr>
            <a:xfrm>
              <a:off x="0" y="-38100"/>
              <a:ext cx="4335115" cy="2108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18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7" name="Google Shape;237;p19">
            <a:extLst>
              <a:ext uri="{FF2B5EF4-FFF2-40B4-BE49-F238E27FC236}">
                <a16:creationId xmlns:a16="http://schemas.microsoft.com/office/drawing/2014/main" id="{582C4F97-7AF1-00B1-DBA0-53B5DD420439}"/>
              </a:ext>
            </a:extLst>
          </p:cNvPr>
          <p:cNvCxnSpPr/>
          <p:nvPr/>
        </p:nvCxnSpPr>
        <p:spPr>
          <a:xfrm>
            <a:off x="1068368" y="2559960"/>
            <a:ext cx="16420222" cy="0"/>
          </a:xfrm>
          <a:prstGeom prst="straightConnector1">
            <a:avLst/>
          </a:prstGeom>
          <a:noFill/>
          <a:ln w="38100" cap="flat" cmpd="sng">
            <a:solidFill>
              <a:srgbClr val="D543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8" name="Google Shape;238;p19">
            <a:extLst>
              <a:ext uri="{FF2B5EF4-FFF2-40B4-BE49-F238E27FC236}">
                <a16:creationId xmlns:a16="http://schemas.microsoft.com/office/drawing/2014/main" id="{B3F18497-1CE3-B42D-0A37-EA8B16EF7F84}"/>
              </a:ext>
            </a:extLst>
          </p:cNvPr>
          <p:cNvSpPr/>
          <p:nvPr/>
        </p:nvSpPr>
        <p:spPr>
          <a:xfrm>
            <a:off x="16247239" y="8266304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9" name="Google Shape;239;p19">
            <a:extLst>
              <a:ext uri="{FF2B5EF4-FFF2-40B4-BE49-F238E27FC236}">
                <a16:creationId xmlns:a16="http://schemas.microsoft.com/office/drawing/2014/main" id="{95C425BA-327A-E893-EDFE-BA307FDCBB54}"/>
              </a:ext>
            </a:extLst>
          </p:cNvPr>
          <p:cNvSpPr txBox="1"/>
          <p:nvPr/>
        </p:nvSpPr>
        <p:spPr>
          <a:xfrm>
            <a:off x="4828840" y="1089796"/>
            <a:ext cx="9431278" cy="97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61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IMPORTANT INSTRUCTIONS</a:t>
            </a:r>
            <a:endParaRPr/>
          </a:p>
        </p:txBody>
      </p:sp>
      <p:sp>
        <p:nvSpPr>
          <p:cNvPr id="240" name="Google Shape;240;p19">
            <a:extLst>
              <a:ext uri="{FF2B5EF4-FFF2-40B4-BE49-F238E27FC236}">
                <a16:creationId xmlns:a16="http://schemas.microsoft.com/office/drawing/2014/main" id="{181949A1-FD9E-8737-6969-2E2D2D765C70}"/>
              </a:ext>
            </a:extLst>
          </p:cNvPr>
          <p:cNvSpPr/>
          <p:nvPr/>
        </p:nvSpPr>
        <p:spPr>
          <a:xfrm>
            <a:off x="4257172" y="1374042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1" name="Google Shape;241;p19">
            <a:extLst>
              <a:ext uri="{FF2B5EF4-FFF2-40B4-BE49-F238E27FC236}">
                <a16:creationId xmlns:a16="http://schemas.microsoft.com/office/drawing/2014/main" id="{134B8AD7-C9E3-6D60-C10F-DB4E0B4D6615}"/>
              </a:ext>
            </a:extLst>
          </p:cNvPr>
          <p:cNvSpPr txBox="1"/>
          <p:nvPr/>
        </p:nvSpPr>
        <p:spPr>
          <a:xfrm rot="-5400000">
            <a:off x="-3105000" y="5172900"/>
            <a:ext cx="7190400" cy="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0" b="1" i="0" u="none" strike="noStrike" cap="none">
                <a:solidFill>
                  <a:srgbClr val="071828"/>
                </a:solidFill>
                <a:latin typeface="Poppins Black"/>
                <a:ea typeface="Poppins Black"/>
                <a:cs typeface="Poppins Black"/>
                <a:sym typeface="Poppins Black"/>
              </a:rPr>
              <a:t>IDEA-BUILDUP</a:t>
            </a:r>
            <a:endParaRPr/>
          </a:p>
        </p:txBody>
      </p:sp>
      <p:sp>
        <p:nvSpPr>
          <p:cNvPr id="242" name="Google Shape;242;p19">
            <a:extLst>
              <a:ext uri="{FF2B5EF4-FFF2-40B4-BE49-F238E27FC236}">
                <a16:creationId xmlns:a16="http://schemas.microsoft.com/office/drawing/2014/main" id="{9B031BD0-887E-D456-582E-A602226D8B24}"/>
              </a:ext>
            </a:extLst>
          </p:cNvPr>
          <p:cNvSpPr/>
          <p:nvPr/>
        </p:nvSpPr>
        <p:spPr>
          <a:xfrm>
            <a:off x="304364" y="271321"/>
            <a:ext cx="1514758" cy="1514758"/>
          </a:xfrm>
          <a:custGeom>
            <a:avLst/>
            <a:gdLst/>
            <a:ahLst/>
            <a:cxnLst/>
            <a:rect l="l" t="t" r="r" b="b"/>
            <a:pathLst>
              <a:path w="1514758" h="1514758" extrusionOk="0">
                <a:moveTo>
                  <a:pt x="0" y="0"/>
                </a:moveTo>
                <a:lnTo>
                  <a:pt x="1514758" y="0"/>
                </a:lnTo>
                <a:lnTo>
                  <a:pt x="1514758" y="1514758"/>
                </a:lnTo>
                <a:lnTo>
                  <a:pt x="0" y="1514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3" name="Google Shape;243;p19">
            <a:extLst>
              <a:ext uri="{FF2B5EF4-FFF2-40B4-BE49-F238E27FC236}">
                <a16:creationId xmlns:a16="http://schemas.microsoft.com/office/drawing/2014/main" id="{0936C6C8-237C-EB56-0F25-E12F50FD3C06}"/>
              </a:ext>
            </a:extLst>
          </p:cNvPr>
          <p:cNvSpPr/>
          <p:nvPr/>
        </p:nvSpPr>
        <p:spPr>
          <a:xfrm>
            <a:off x="14797814" y="478516"/>
            <a:ext cx="2965379" cy="1000815"/>
          </a:xfrm>
          <a:custGeom>
            <a:avLst/>
            <a:gdLst/>
            <a:ahLst/>
            <a:cxnLst/>
            <a:rect l="l" t="t" r="r" b="b"/>
            <a:pathLst>
              <a:path w="2965379" h="1000815" extrusionOk="0">
                <a:moveTo>
                  <a:pt x="0" y="0"/>
                </a:moveTo>
                <a:lnTo>
                  <a:pt x="2965379" y="0"/>
                </a:lnTo>
                <a:lnTo>
                  <a:pt x="2965379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4" name="Google Shape;244;p19">
            <a:extLst>
              <a:ext uri="{FF2B5EF4-FFF2-40B4-BE49-F238E27FC236}">
                <a16:creationId xmlns:a16="http://schemas.microsoft.com/office/drawing/2014/main" id="{543CB480-380D-4B02-8CD9-A26111F4F5FB}"/>
              </a:ext>
            </a:extLst>
          </p:cNvPr>
          <p:cNvSpPr txBox="1"/>
          <p:nvPr/>
        </p:nvSpPr>
        <p:spPr>
          <a:xfrm>
            <a:off x="1819122" y="3968390"/>
            <a:ext cx="8998102" cy="70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51" b="1" i="0" u="none" strike="noStrike" cap="none">
                <a:solidFill>
                  <a:srgbClr val="D54344"/>
                </a:solidFill>
                <a:latin typeface="Arial"/>
                <a:ea typeface="Arial"/>
                <a:cs typeface="Arial"/>
                <a:sym typeface="Arial"/>
              </a:rPr>
              <a:t>*MAXIMUM SLIDES</a:t>
            </a:r>
            <a:endParaRPr/>
          </a:p>
        </p:txBody>
      </p:sp>
      <p:sp>
        <p:nvSpPr>
          <p:cNvPr id="245" name="Google Shape;245;p19">
            <a:extLst>
              <a:ext uri="{FF2B5EF4-FFF2-40B4-BE49-F238E27FC236}">
                <a16:creationId xmlns:a16="http://schemas.microsoft.com/office/drawing/2014/main" id="{F5B53CEC-4F5A-6422-0171-1F8401FBF70E}"/>
              </a:ext>
            </a:extLst>
          </p:cNvPr>
          <p:cNvSpPr txBox="1"/>
          <p:nvPr/>
        </p:nvSpPr>
        <p:spPr>
          <a:xfrm>
            <a:off x="1977851" y="4892343"/>
            <a:ext cx="13369769" cy="132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ENSURE THE PRESENTATION DOES NOT EXCEED 10 SLIDES INCLUDING THE TITLE.</a:t>
            </a:r>
            <a:endParaRPr/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9">
            <a:extLst>
              <a:ext uri="{FF2B5EF4-FFF2-40B4-BE49-F238E27FC236}">
                <a16:creationId xmlns:a16="http://schemas.microsoft.com/office/drawing/2014/main" id="{5E6285A4-99C9-360C-E372-F4A10F66A696}"/>
              </a:ext>
            </a:extLst>
          </p:cNvPr>
          <p:cNvSpPr txBox="1"/>
          <p:nvPr/>
        </p:nvSpPr>
        <p:spPr>
          <a:xfrm>
            <a:off x="1819122" y="5893221"/>
            <a:ext cx="8784446" cy="70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51" b="1" i="0" u="none" strike="noStrike" cap="none">
                <a:solidFill>
                  <a:srgbClr val="D54344"/>
                </a:solidFill>
                <a:latin typeface="Arial"/>
                <a:ea typeface="Arial"/>
                <a:cs typeface="Arial"/>
                <a:sym typeface="Arial"/>
              </a:rPr>
              <a:t>*TEMPLATE USAGE</a:t>
            </a:r>
            <a:endParaRPr/>
          </a:p>
        </p:txBody>
      </p:sp>
      <p:sp>
        <p:nvSpPr>
          <p:cNvPr id="247" name="Google Shape;247;p19">
            <a:extLst>
              <a:ext uri="{FF2B5EF4-FFF2-40B4-BE49-F238E27FC236}">
                <a16:creationId xmlns:a16="http://schemas.microsoft.com/office/drawing/2014/main" id="{8D0A7968-1337-67C4-025A-9C1F25168177}"/>
              </a:ext>
            </a:extLst>
          </p:cNvPr>
          <p:cNvSpPr txBox="1"/>
          <p:nvPr/>
        </p:nvSpPr>
        <p:spPr>
          <a:xfrm>
            <a:off x="1977851" y="6859194"/>
            <a:ext cx="13052311" cy="220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FOLLOW ONLY THE PROVIDED TEMPLATE STRICTLY FOR MAKING THE PPT.</a:t>
            </a:r>
            <a:endParaRPr/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ONLY FONT SIZE AND LAYOUT MAY BE ADJUSTED AS NEEDED FOR READABILITY.</a:t>
            </a:r>
            <a:endParaRPr/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p19">
            <a:extLst>
              <a:ext uri="{FF2B5EF4-FFF2-40B4-BE49-F238E27FC236}">
                <a16:creationId xmlns:a16="http://schemas.microsoft.com/office/drawing/2014/main" id="{4CBC90E2-5235-7AE2-C09A-D13DD3032DA1}"/>
              </a:ext>
            </a:extLst>
          </p:cNvPr>
          <p:cNvGrpSpPr/>
          <p:nvPr/>
        </p:nvGrpSpPr>
        <p:grpSpPr>
          <a:xfrm rot="-5400000">
            <a:off x="16452367" y="7789079"/>
            <a:ext cx="3174300" cy="571668"/>
            <a:chOff x="14208714" y="9245854"/>
            <a:chExt cx="3174300" cy="571668"/>
          </a:xfrm>
        </p:grpSpPr>
        <p:sp>
          <p:nvSpPr>
            <p:cNvPr id="249" name="Google Shape;249;p19">
              <a:extLst>
                <a:ext uri="{FF2B5EF4-FFF2-40B4-BE49-F238E27FC236}">
                  <a16:creationId xmlns:a16="http://schemas.microsoft.com/office/drawing/2014/main" id="{B2D6BE7F-4527-3E7A-9471-F2D219F394ED}"/>
                </a:ext>
              </a:extLst>
            </p:cNvPr>
            <p:cNvSpPr/>
            <p:nvPr/>
          </p:nvSpPr>
          <p:spPr>
            <a:xfrm>
              <a:off x="16687632" y="9245854"/>
              <a:ext cx="571668" cy="571668"/>
            </a:xfrm>
            <a:custGeom>
              <a:avLst/>
              <a:gdLst/>
              <a:ahLst/>
              <a:cxnLst/>
              <a:rect l="l" t="t" r="r" b="b"/>
              <a:pathLst>
                <a:path w="571668" h="571668" extrusionOk="0">
                  <a:moveTo>
                    <a:pt x="0" y="0"/>
                  </a:moveTo>
                  <a:lnTo>
                    <a:pt x="571668" y="0"/>
                  </a:lnTo>
                  <a:lnTo>
                    <a:pt x="571668" y="571668"/>
                  </a:lnTo>
                  <a:lnTo>
                    <a:pt x="0" y="5716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50" name="Google Shape;250;p19">
              <a:extLst>
                <a:ext uri="{FF2B5EF4-FFF2-40B4-BE49-F238E27FC236}">
                  <a16:creationId xmlns:a16="http://schemas.microsoft.com/office/drawing/2014/main" id="{540879BF-9956-8679-4D7A-36EEC2AE68C7}"/>
                </a:ext>
              </a:extLst>
            </p:cNvPr>
            <p:cNvSpPr txBox="1"/>
            <p:nvPr/>
          </p:nvSpPr>
          <p:spPr>
            <a:xfrm>
              <a:off x="14208714" y="9437785"/>
              <a:ext cx="3174300" cy="24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0" b="1" i="0" u="none" strike="noStrike" cap="none">
                  <a:solidFill>
                    <a:srgbClr val="D54344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SparkUp Summit 2026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70326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/>
          <p:nvPr/>
        </p:nvSpPr>
        <p:spPr>
          <a:xfrm>
            <a:off x="-14802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11" b="-15111"/>
            </a:stretch>
          </a:blipFill>
          <a:ln>
            <a:noFill/>
          </a:ln>
        </p:spPr>
      </p:sp>
      <p:grpSp>
        <p:nvGrpSpPr>
          <p:cNvPr id="256" name="Google Shape;256;p20"/>
          <p:cNvGrpSpPr/>
          <p:nvPr/>
        </p:nvGrpSpPr>
        <p:grpSpPr>
          <a:xfrm rot="-454637">
            <a:off x="2841955" y="3540874"/>
            <a:ext cx="11919422" cy="3086100"/>
            <a:chOff x="0" y="0"/>
            <a:chExt cx="3139272" cy="812800"/>
          </a:xfrm>
        </p:grpSpPr>
        <p:sp>
          <p:nvSpPr>
            <p:cNvPr id="257" name="Google Shape;257;p20"/>
            <p:cNvSpPr/>
            <p:nvPr/>
          </p:nvSpPr>
          <p:spPr>
            <a:xfrm>
              <a:off x="0" y="0"/>
              <a:ext cx="3139272" cy="812800"/>
            </a:xfrm>
            <a:custGeom>
              <a:avLst/>
              <a:gdLst/>
              <a:ahLst/>
              <a:cxnLst/>
              <a:rect l="l" t="t" r="r" b="b"/>
              <a:pathLst>
                <a:path w="3139272" h="812800" extrusionOk="0">
                  <a:moveTo>
                    <a:pt x="1569636" y="0"/>
                  </a:moveTo>
                  <a:cubicBezTo>
                    <a:pt x="702750" y="0"/>
                    <a:pt x="0" y="181951"/>
                    <a:pt x="0" y="406400"/>
                  </a:cubicBezTo>
                  <a:cubicBezTo>
                    <a:pt x="0" y="630849"/>
                    <a:pt x="702750" y="812800"/>
                    <a:pt x="1569636" y="812800"/>
                  </a:cubicBezTo>
                  <a:cubicBezTo>
                    <a:pt x="2436522" y="812800"/>
                    <a:pt x="3139272" y="630849"/>
                    <a:pt x="3139272" y="406400"/>
                  </a:cubicBezTo>
                  <a:cubicBezTo>
                    <a:pt x="3139272" y="181951"/>
                    <a:pt x="2436522" y="0"/>
                    <a:pt x="1569636" y="0"/>
                  </a:cubicBezTo>
                  <a:close/>
                </a:path>
              </a:pathLst>
            </a:custGeom>
            <a:noFill/>
            <a:ln w="952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0"/>
            <p:cNvSpPr txBox="1"/>
            <p:nvPr/>
          </p:nvSpPr>
          <p:spPr>
            <a:xfrm>
              <a:off x="294307" y="38100"/>
              <a:ext cx="2550658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20"/>
          <p:cNvSpPr txBox="1"/>
          <p:nvPr/>
        </p:nvSpPr>
        <p:spPr>
          <a:xfrm>
            <a:off x="2846224" y="3612972"/>
            <a:ext cx="12595500" cy="23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58" b="1" i="0" u="none" strike="noStrike" cap="none">
                <a:solidFill>
                  <a:srgbClr val="071828"/>
                </a:solidFill>
                <a:latin typeface="Poppins Black"/>
                <a:ea typeface="Poppins Black"/>
                <a:cs typeface="Poppins Black"/>
                <a:sym typeface="Poppins Black"/>
              </a:rPr>
              <a:t>THANK YOU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 rot="-5400000">
            <a:off x="-3105000" y="5160450"/>
            <a:ext cx="7190400" cy="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0" b="1" i="0" u="none" strike="noStrike" cap="none">
                <a:solidFill>
                  <a:srgbClr val="071828"/>
                </a:solidFill>
                <a:latin typeface="Poppins Black"/>
                <a:ea typeface="Poppins Black"/>
                <a:cs typeface="Poppins Black"/>
                <a:sym typeface="Poppins Black"/>
              </a:rPr>
              <a:t>IDEA-BUILDUP</a:t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13922880" y="3324904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2" name="Google Shape;262;p20"/>
          <p:cNvSpPr/>
          <p:nvPr/>
        </p:nvSpPr>
        <p:spPr>
          <a:xfrm>
            <a:off x="1347577" y="9559168"/>
            <a:ext cx="3863286" cy="258353"/>
          </a:xfrm>
          <a:custGeom>
            <a:avLst/>
            <a:gdLst/>
            <a:ahLst/>
            <a:cxnLst/>
            <a:rect l="l" t="t" r="r" b="b"/>
            <a:pathLst>
              <a:path w="3863286" h="258353" extrusionOk="0">
                <a:moveTo>
                  <a:pt x="0" y="0"/>
                </a:moveTo>
                <a:lnTo>
                  <a:pt x="3863286" y="0"/>
                </a:lnTo>
                <a:lnTo>
                  <a:pt x="3863286" y="258354"/>
                </a:lnTo>
                <a:lnTo>
                  <a:pt x="0" y="2583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3" name="Google Shape;263;p20"/>
          <p:cNvSpPr/>
          <p:nvPr/>
        </p:nvSpPr>
        <p:spPr>
          <a:xfrm>
            <a:off x="2993386" y="6400372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4" name="Google Shape;264;p20"/>
          <p:cNvSpPr/>
          <p:nvPr/>
        </p:nvSpPr>
        <p:spPr>
          <a:xfrm>
            <a:off x="2404690" y="654190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5" name="Google Shape;265;p20"/>
          <p:cNvSpPr/>
          <p:nvPr/>
        </p:nvSpPr>
        <p:spPr>
          <a:xfrm>
            <a:off x="16687632" y="9245854"/>
            <a:ext cx="571668" cy="571668"/>
          </a:xfrm>
          <a:custGeom>
            <a:avLst/>
            <a:gdLst/>
            <a:ahLst/>
            <a:cxnLst/>
            <a:rect l="l" t="t" r="r" b="b"/>
            <a:pathLst>
              <a:path w="571668" h="571668" extrusionOk="0">
                <a:moveTo>
                  <a:pt x="0" y="0"/>
                </a:moveTo>
                <a:lnTo>
                  <a:pt x="571668" y="0"/>
                </a:lnTo>
                <a:lnTo>
                  <a:pt x="571668" y="571668"/>
                </a:lnTo>
                <a:lnTo>
                  <a:pt x="0" y="571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6" name="Google Shape;266;p20"/>
          <p:cNvSpPr txBox="1"/>
          <p:nvPr/>
        </p:nvSpPr>
        <p:spPr>
          <a:xfrm>
            <a:off x="14208714" y="9437785"/>
            <a:ext cx="3174411" cy="27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0" b="1" i="0" u="none" strike="noStrike" cap="none">
                <a:solidFill>
                  <a:srgbClr val="D5434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SparkUp Summit 2026</a:t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304364" y="271321"/>
            <a:ext cx="1514758" cy="1514758"/>
          </a:xfrm>
          <a:custGeom>
            <a:avLst/>
            <a:gdLst/>
            <a:ahLst/>
            <a:cxnLst/>
            <a:rect l="l" t="t" r="r" b="b"/>
            <a:pathLst>
              <a:path w="1514758" h="1514758" extrusionOk="0">
                <a:moveTo>
                  <a:pt x="0" y="0"/>
                </a:moveTo>
                <a:lnTo>
                  <a:pt x="1514758" y="0"/>
                </a:lnTo>
                <a:lnTo>
                  <a:pt x="1514758" y="1514758"/>
                </a:lnTo>
                <a:lnTo>
                  <a:pt x="0" y="1514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8" name="Google Shape;268;p20"/>
          <p:cNvSpPr txBox="1"/>
          <p:nvPr/>
        </p:nvSpPr>
        <p:spPr>
          <a:xfrm>
            <a:off x="5521268" y="6955916"/>
            <a:ext cx="6949414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7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D54344"/>
                </a:solidFill>
                <a:latin typeface="Arial"/>
                <a:ea typeface="Arial"/>
                <a:cs typeface="Arial"/>
                <a:sym typeface="Arial"/>
              </a:rPr>
              <a:t>TEAM ALCHEMIST</a:t>
            </a:r>
            <a:endParaRPr sz="6000" dirty="0"/>
          </a:p>
        </p:txBody>
      </p:sp>
      <p:sp>
        <p:nvSpPr>
          <p:cNvPr id="269" name="Google Shape;269;p20"/>
          <p:cNvSpPr/>
          <p:nvPr/>
        </p:nvSpPr>
        <p:spPr>
          <a:xfrm>
            <a:off x="14797814" y="478516"/>
            <a:ext cx="2965379" cy="1000815"/>
          </a:xfrm>
          <a:custGeom>
            <a:avLst/>
            <a:gdLst/>
            <a:ahLst/>
            <a:cxnLst/>
            <a:rect l="l" t="t" r="r" b="b"/>
            <a:pathLst>
              <a:path w="2965379" h="1000815" extrusionOk="0">
                <a:moveTo>
                  <a:pt x="0" y="0"/>
                </a:moveTo>
                <a:lnTo>
                  <a:pt x="2965379" y="0"/>
                </a:lnTo>
                <a:lnTo>
                  <a:pt x="2965379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1755</Words>
  <Application>Microsoft Office PowerPoint</Application>
  <PresentationFormat>Custom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Poppins Black</vt:lpstr>
      <vt:lpstr>Poppins Medium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sibani bisoyi</dc:creator>
  <cp:lastModifiedBy>Asish Kumar Behera</cp:lastModifiedBy>
  <cp:revision>16</cp:revision>
  <dcterms:modified xsi:type="dcterms:W3CDTF">2026-04-03T20:22:49Z</dcterms:modified>
</cp:coreProperties>
</file>